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7" r:id="rId2"/>
    <p:sldId id="256" r:id="rId3"/>
    <p:sldId id="264" r:id="rId4"/>
    <p:sldId id="270" r:id="rId5"/>
    <p:sldId id="273" r:id="rId6"/>
    <p:sldId id="274" r:id="rId7"/>
    <p:sldId id="271" r:id="rId8"/>
    <p:sldId id="272" r:id="rId9"/>
    <p:sldId id="275" r:id="rId10"/>
    <p:sldId id="277" r:id="rId11"/>
    <p:sldId id="278" r:id="rId12"/>
    <p:sldId id="280" r:id="rId13"/>
    <p:sldId id="279"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364C274-94BB-4FD4-B47F-9FE7A0379EB4}" type="datetimeFigureOut">
              <a:rPr lang="en-IN" smtClean="0"/>
              <a:t>19-08-2025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DF70D3-EA2C-4492-8588-2E25B4072FEB}" type="slidenum">
              <a:rPr lang="en-IN" smtClean="0"/>
              <a:t>‹#›</a:t>
            </a:fld>
            <a:endParaRPr lang="en-IN"/>
          </a:p>
        </p:txBody>
      </p:sp>
    </p:spTree>
    <p:extLst>
      <p:ext uri="{BB962C8B-B14F-4D97-AF65-F5344CB8AC3E}">
        <p14:creationId xmlns:p14="http://schemas.microsoft.com/office/powerpoint/2010/main" val="4129674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2DF70D3-EA2C-4492-8588-2E25B4072FEB}" type="slidenum">
              <a:rPr lang="en-IN" smtClean="0"/>
              <a:t>1</a:t>
            </a:fld>
            <a:endParaRPr lang="en-IN"/>
          </a:p>
        </p:txBody>
      </p:sp>
    </p:spTree>
    <p:extLst>
      <p:ext uri="{BB962C8B-B14F-4D97-AF65-F5344CB8AC3E}">
        <p14:creationId xmlns:p14="http://schemas.microsoft.com/office/powerpoint/2010/main" val="29289840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2DF70D3-EA2C-4492-8588-2E25B4072FEB}" type="slidenum">
              <a:rPr lang="en-IN" smtClean="0"/>
              <a:t>2</a:t>
            </a:fld>
            <a:endParaRPr lang="en-IN"/>
          </a:p>
        </p:txBody>
      </p:sp>
    </p:spTree>
    <p:extLst>
      <p:ext uri="{BB962C8B-B14F-4D97-AF65-F5344CB8AC3E}">
        <p14:creationId xmlns:p14="http://schemas.microsoft.com/office/powerpoint/2010/main" val="17076630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D2DF70D3-EA2C-4492-8588-2E25B4072FEB}" type="slidenum">
              <a:rPr lang="en-IN" smtClean="0"/>
              <a:t>3</a:t>
            </a:fld>
            <a:endParaRPr lang="en-IN"/>
          </a:p>
        </p:txBody>
      </p:sp>
    </p:spTree>
    <p:extLst>
      <p:ext uri="{BB962C8B-B14F-4D97-AF65-F5344CB8AC3E}">
        <p14:creationId xmlns:p14="http://schemas.microsoft.com/office/powerpoint/2010/main" val="1303892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152CDF-C314-9595-27BB-107D2155DD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97ECBF-F8AA-97AD-D309-C7410387B78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A71DD68-8BD0-B3C1-C509-D395816D376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EEAE4A1-BD3A-4A8C-A01B-1A0A0F66DF4C}"/>
              </a:ext>
            </a:extLst>
          </p:cNvPr>
          <p:cNvSpPr>
            <a:spLocks noGrp="1"/>
          </p:cNvSpPr>
          <p:nvPr>
            <p:ph type="sldNum" sz="quarter" idx="5"/>
          </p:nvPr>
        </p:nvSpPr>
        <p:spPr/>
        <p:txBody>
          <a:bodyPr/>
          <a:lstStyle/>
          <a:p>
            <a:fld id="{D2DF70D3-EA2C-4492-8588-2E25B4072FEB}" type="slidenum">
              <a:rPr lang="en-IN" smtClean="0"/>
              <a:t>4</a:t>
            </a:fld>
            <a:endParaRPr lang="en-IN"/>
          </a:p>
        </p:txBody>
      </p:sp>
    </p:spTree>
    <p:extLst>
      <p:ext uri="{BB962C8B-B14F-4D97-AF65-F5344CB8AC3E}">
        <p14:creationId xmlns:p14="http://schemas.microsoft.com/office/powerpoint/2010/main" val="31980478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C3DE47-7C1A-F5FE-6F63-D0F39A4930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E16DE7-255B-9043-E5D9-9828B015DA1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189467-4451-56E2-D51B-8816BBD92B4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FC603AA-DADC-91E1-9DCE-949EC3A17BE9}"/>
              </a:ext>
            </a:extLst>
          </p:cNvPr>
          <p:cNvSpPr>
            <a:spLocks noGrp="1"/>
          </p:cNvSpPr>
          <p:nvPr>
            <p:ph type="sldNum" sz="quarter" idx="5"/>
          </p:nvPr>
        </p:nvSpPr>
        <p:spPr/>
        <p:txBody>
          <a:bodyPr/>
          <a:lstStyle/>
          <a:p>
            <a:fld id="{D2DF70D3-EA2C-4492-8588-2E25B4072FEB}" type="slidenum">
              <a:rPr lang="en-IN" smtClean="0"/>
              <a:t>5</a:t>
            </a:fld>
            <a:endParaRPr lang="en-IN"/>
          </a:p>
        </p:txBody>
      </p:sp>
    </p:spTree>
    <p:extLst>
      <p:ext uri="{BB962C8B-B14F-4D97-AF65-F5344CB8AC3E}">
        <p14:creationId xmlns:p14="http://schemas.microsoft.com/office/powerpoint/2010/main" val="2720349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E9B22C-B9E2-BAA8-FC50-E47F31C33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5E696-4545-99AA-9A75-257FCE55954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E38401-7B25-2DB3-CE9F-E2394C96D87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A518A89-2FEC-CB4D-E0A2-8F26DB7F3A94}"/>
              </a:ext>
            </a:extLst>
          </p:cNvPr>
          <p:cNvSpPr>
            <a:spLocks noGrp="1"/>
          </p:cNvSpPr>
          <p:nvPr>
            <p:ph type="sldNum" sz="quarter" idx="5"/>
          </p:nvPr>
        </p:nvSpPr>
        <p:spPr/>
        <p:txBody>
          <a:bodyPr/>
          <a:lstStyle/>
          <a:p>
            <a:fld id="{D2DF70D3-EA2C-4492-8588-2E25B4072FEB}" type="slidenum">
              <a:rPr lang="en-IN" smtClean="0"/>
              <a:t>6</a:t>
            </a:fld>
            <a:endParaRPr lang="en-IN"/>
          </a:p>
        </p:txBody>
      </p:sp>
    </p:spTree>
    <p:extLst>
      <p:ext uri="{BB962C8B-B14F-4D97-AF65-F5344CB8AC3E}">
        <p14:creationId xmlns:p14="http://schemas.microsoft.com/office/powerpoint/2010/main" val="26155361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5B77FE-69BE-58D4-F45F-D76BB0F6F4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A50E6E7-53F4-03EE-1161-D087B73425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02DD36-C21B-F05F-511D-CF1C503FE9A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9E273CA-90D2-5E29-13DB-F1957708F3C2}"/>
              </a:ext>
            </a:extLst>
          </p:cNvPr>
          <p:cNvSpPr>
            <a:spLocks noGrp="1"/>
          </p:cNvSpPr>
          <p:nvPr>
            <p:ph type="sldNum" sz="quarter" idx="5"/>
          </p:nvPr>
        </p:nvSpPr>
        <p:spPr/>
        <p:txBody>
          <a:bodyPr/>
          <a:lstStyle/>
          <a:p>
            <a:fld id="{D2DF70D3-EA2C-4492-8588-2E25B4072FEB}" type="slidenum">
              <a:rPr lang="en-IN" smtClean="0"/>
              <a:t>7</a:t>
            </a:fld>
            <a:endParaRPr lang="en-IN"/>
          </a:p>
        </p:txBody>
      </p:sp>
    </p:spTree>
    <p:extLst>
      <p:ext uri="{BB962C8B-B14F-4D97-AF65-F5344CB8AC3E}">
        <p14:creationId xmlns:p14="http://schemas.microsoft.com/office/powerpoint/2010/main" val="19473733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E4B26-DEFD-2E4D-1559-0A36B49577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AD4669-588D-1A7B-7CF9-04612060CBD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366B65-EF06-6F71-D8DA-A40A9FC1DF5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9BBC82C-84FA-AB31-8AC3-CCDE9C287D45}"/>
              </a:ext>
            </a:extLst>
          </p:cNvPr>
          <p:cNvSpPr>
            <a:spLocks noGrp="1"/>
          </p:cNvSpPr>
          <p:nvPr>
            <p:ph type="sldNum" sz="quarter" idx="5"/>
          </p:nvPr>
        </p:nvSpPr>
        <p:spPr/>
        <p:txBody>
          <a:bodyPr/>
          <a:lstStyle/>
          <a:p>
            <a:fld id="{D2DF70D3-EA2C-4492-8588-2E25B4072FEB}" type="slidenum">
              <a:rPr lang="en-IN" smtClean="0"/>
              <a:t>8</a:t>
            </a:fld>
            <a:endParaRPr lang="en-IN"/>
          </a:p>
        </p:txBody>
      </p:sp>
    </p:spTree>
    <p:extLst>
      <p:ext uri="{BB962C8B-B14F-4D97-AF65-F5344CB8AC3E}">
        <p14:creationId xmlns:p14="http://schemas.microsoft.com/office/powerpoint/2010/main" val="138708190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A8147-D0DB-0E51-0F10-8BB0B32A50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8B9C90-3408-172B-3170-F1391CD14A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36A494-57C9-621D-3616-FB6C6C5F78D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0B98FFCB-EB37-C9AD-3958-4CFE2949B350}"/>
              </a:ext>
            </a:extLst>
          </p:cNvPr>
          <p:cNvSpPr>
            <a:spLocks noGrp="1"/>
          </p:cNvSpPr>
          <p:nvPr>
            <p:ph type="sldNum" sz="quarter" idx="5"/>
          </p:nvPr>
        </p:nvSpPr>
        <p:spPr/>
        <p:txBody>
          <a:bodyPr/>
          <a:lstStyle/>
          <a:p>
            <a:fld id="{D2DF70D3-EA2C-4492-8588-2E25B4072FEB}" type="slidenum">
              <a:rPr lang="en-IN" smtClean="0"/>
              <a:t>9</a:t>
            </a:fld>
            <a:endParaRPr lang="en-IN"/>
          </a:p>
        </p:txBody>
      </p:sp>
    </p:spTree>
    <p:extLst>
      <p:ext uri="{BB962C8B-B14F-4D97-AF65-F5344CB8AC3E}">
        <p14:creationId xmlns:p14="http://schemas.microsoft.com/office/powerpoint/2010/main" val="85677433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EF8287-EBCC-8ADD-A114-E21D6927B0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292EE0-2FF6-0F22-FB47-31759C2C843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699F8E-8047-EF31-ACF2-E733147C6F4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B5F21579-80CF-46DB-708A-67B2EE1E6305}"/>
              </a:ext>
            </a:extLst>
          </p:cNvPr>
          <p:cNvSpPr>
            <a:spLocks noGrp="1"/>
          </p:cNvSpPr>
          <p:nvPr>
            <p:ph type="sldNum" sz="quarter" idx="5"/>
          </p:nvPr>
        </p:nvSpPr>
        <p:spPr/>
        <p:txBody>
          <a:bodyPr/>
          <a:lstStyle/>
          <a:p>
            <a:fld id="{D2DF70D3-EA2C-4492-8588-2E25B4072FEB}" type="slidenum">
              <a:rPr lang="en-IN" smtClean="0"/>
              <a:t>10</a:t>
            </a:fld>
            <a:endParaRPr lang="en-IN"/>
          </a:p>
        </p:txBody>
      </p:sp>
    </p:spTree>
    <p:extLst>
      <p:ext uri="{BB962C8B-B14F-4D97-AF65-F5344CB8AC3E}">
        <p14:creationId xmlns:p14="http://schemas.microsoft.com/office/powerpoint/2010/main" val="15712352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30E7B2-65D9-5BAF-9364-F57E8E1A731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0DB2E3-1FBE-2EBD-680D-9839F0170B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BB2D8A6-C9D0-53D1-66E8-472AFAFFE9C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1688146-1CEC-30E5-1C52-3EE7CF8038AC}"/>
              </a:ext>
            </a:extLst>
          </p:cNvPr>
          <p:cNvSpPr>
            <a:spLocks noGrp="1"/>
          </p:cNvSpPr>
          <p:nvPr>
            <p:ph type="sldNum" sz="quarter" idx="5"/>
          </p:nvPr>
        </p:nvSpPr>
        <p:spPr/>
        <p:txBody>
          <a:bodyPr/>
          <a:lstStyle/>
          <a:p>
            <a:fld id="{D2DF70D3-EA2C-4492-8588-2E25B4072FEB}" type="slidenum">
              <a:rPr lang="en-IN" smtClean="0"/>
              <a:t>11</a:t>
            </a:fld>
            <a:endParaRPr lang="en-IN"/>
          </a:p>
        </p:txBody>
      </p:sp>
    </p:spTree>
    <p:extLst>
      <p:ext uri="{BB962C8B-B14F-4D97-AF65-F5344CB8AC3E}">
        <p14:creationId xmlns:p14="http://schemas.microsoft.com/office/powerpoint/2010/main" val="7806128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C6573-177B-A9BF-DB8D-2AC87DA84B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B06CF9-859D-4D4E-1CC9-9E9627F454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C5E7A19-EC14-ED57-2E0A-16F21CC094E9}"/>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9D853EB5-E465-99C2-7E53-95DB17F230CB}"/>
              </a:ext>
            </a:extLst>
          </p:cNvPr>
          <p:cNvSpPr>
            <a:spLocks noGrp="1"/>
          </p:cNvSpPr>
          <p:nvPr>
            <p:ph type="sldNum" sz="quarter" idx="5"/>
          </p:nvPr>
        </p:nvSpPr>
        <p:spPr/>
        <p:txBody>
          <a:bodyPr/>
          <a:lstStyle/>
          <a:p>
            <a:fld id="{D2DF70D3-EA2C-4492-8588-2E25B4072FEB}" type="slidenum">
              <a:rPr lang="en-IN" smtClean="0"/>
              <a:t>12</a:t>
            </a:fld>
            <a:endParaRPr lang="en-IN"/>
          </a:p>
        </p:txBody>
      </p:sp>
    </p:spTree>
    <p:extLst>
      <p:ext uri="{BB962C8B-B14F-4D97-AF65-F5344CB8AC3E}">
        <p14:creationId xmlns:p14="http://schemas.microsoft.com/office/powerpoint/2010/main" val="124624801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E80B7-9B62-6E44-664C-56F89A3109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C5A10-06AB-DD14-1FA8-7F3AB1D5EF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8E50CE-CB3D-1CA7-A311-12DEDDC3902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FC713DA-BED4-6644-98DC-5F1B1A8BE989}"/>
              </a:ext>
            </a:extLst>
          </p:cNvPr>
          <p:cNvSpPr>
            <a:spLocks noGrp="1"/>
          </p:cNvSpPr>
          <p:nvPr>
            <p:ph type="sldNum" sz="quarter" idx="5"/>
          </p:nvPr>
        </p:nvSpPr>
        <p:spPr/>
        <p:txBody>
          <a:bodyPr/>
          <a:lstStyle/>
          <a:p>
            <a:fld id="{D2DF70D3-EA2C-4492-8588-2E25B4072FEB}" type="slidenum">
              <a:rPr lang="en-IN" smtClean="0"/>
              <a:t>13</a:t>
            </a:fld>
            <a:endParaRPr lang="en-IN"/>
          </a:p>
        </p:txBody>
      </p:sp>
    </p:spTree>
    <p:extLst>
      <p:ext uri="{BB962C8B-B14F-4D97-AF65-F5344CB8AC3E}">
        <p14:creationId xmlns:p14="http://schemas.microsoft.com/office/powerpoint/2010/main" val="287465514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A3B2D-03C9-F24A-440E-E49CD580DBA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E9D9515-66F2-6DC7-43E8-0D380929DC4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927301D-82C4-4437-B23B-79642DF2BDC7}"/>
              </a:ext>
            </a:extLst>
          </p:cNvPr>
          <p:cNvSpPr>
            <a:spLocks noGrp="1"/>
          </p:cNvSpPr>
          <p:nvPr>
            <p:ph type="dt" sz="half" idx="10"/>
          </p:nvPr>
        </p:nvSpPr>
        <p:spPr/>
        <p:txBody>
          <a:bodyPr/>
          <a:lstStyle/>
          <a:p>
            <a:fld id="{053FC582-A7B8-459E-BA49-483DC6078BE8}" type="datetimeFigureOut">
              <a:rPr lang="en-IN" smtClean="0"/>
              <a:t>19-08-2025</a:t>
            </a:fld>
            <a:endParaRPr lang="en-IN"/>
          </a:p>
        </p:txBody>
      </p:sp>
      <p:sp>
        <p:nvSpPr>
          <p:cNvPr id="5" name="Footer Placeholder 4">
            <a:extLst>
              <a:ext uri="{FF2B5EF4-FFF2-40B4-BE49-F238E27FC236}">
                <a16:creationId xmlns:a16="http://schemas.microsoft.com/office/drawing/2014/main" id="{68F72DA8-4C9D-9FA5-9020-E70D465003E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F0C639A-895E-FD5B-6A2D-D03E9B8BBDA5}"/>
              </a:ext>
            </a:extLst>
          </p:cNvPr>
          <p:cNvSpPr>
            <a:spLocks noGrp="1"/>
          </p:cNvSpPr>
          <p:nvPr>
            <p:ph type="sldNum" sz="quarter" idx="12"/>
          </p:nvPr>
        </p:nvSpPr>
        <p:spPr/>
        <p:txBody>
          <a:bodyPr/>
          <a:lstStyle/>
          <a:p>
            <a:fld id="{5F945DBD-9C3E-4678-8BE3-FBE10F27C3A0}" type="slidenum">
              <a:rPr lang="en-IN" smtClean="0"/>
              <a:t>‹#›</a:t>
            </a:fld>
            <a:endParaRPr lang="en-IN"/>
          </a:p>
        </p:txBody>
      </p:sp>
    </p:spTree>
    <p:extLst>
      <p:ext uri="{BB962C8B-B14F-4D97-AF65-F5344CB8AC3E}">
        <p14:creationId xmlns:p14="http://schemas.microsoft.com/office/powerpoint/2010/main" val="26962222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A4CB9F-5F22-EC3F-156E-06222B60E7A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30EC637-D652-D092-DAA7-69A741EE9EA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ED15355-3F52-996D-46D3-EBAD7696B23C}"/>
              </a:ext>
            </a:extLst>
          </p:cNvPr>
          <p:cNvSpPr>
            <a:spLocks noGrp="1"/>
          </p:cNvSpPr>
          <p:nvPr>
            <p:ph type="dt" sz="half" idx="10"/>
          </p:nvPr>
        </p:nvSpPr>
        <p:spPr/>
        <p:txBody>
          <a:bodyPr/>
          <a:lstStyle/>
          <a:p>
            <a:fld id="{053FC582-A7B8-459E-BA49-483DC6078BE8}" type="datetimeFigureOut">
              <a:rPr lang="en-IN" smtClean="0"/>
              <a:t>19-08-2025</a:t>
            </a:fld>
            <a:endParaRPr lang="en-IN"/>
          </a:p>
        </p:txBody>
      </p:sp>
      <p:sp>
        <p:nvSpPr>
          <p:cNvPr id="5" name="Footer Placeholder 4">
            <a:extLst>
              <a:ext uri="{FF2B5EF4-FFF2-40B4-BE49-F238E27FC236}">
                <a16:creationId xmlns:a16="http://schemas.microsoft.com/office/drawing/2014/main" id="{E35D72A2-2233-0479-9B8C-C292E49062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7DDBC10-C4DB-7E30-316A-AEA6672C4E26}"/>
              </a:ext>
            </a:extLst>
          </p:cNvPr>
          <p:cNvSpPr>
            <a:spLocks noGrp="1"/>
          </p:cNvSpPr>
          <p:nvPr>
            <p:ph type="sldNum" sz="quarter" idx="12"/>
          </p:nvPr>
        </p:nvSpPr>
        <p:spPr/>
        <p:txBody>
          <a:bodyPr/>
          <a:lstStyle/>
          <a:p>
            <a:fld id="{5F945DBD-9C3E-4678-8BE3-FBE10F27C3A0}" type="slidenum">
              <a:rPr lang="en-IN" smtClean="0"/>
              <a:t>‹#›</a:t>
            </a:fld>
            <a:endParaRPr lang="en-IN"/>
          </a:p>
        </p:txBody>
      </p:sp>
    </p:spTree>
    <p:extLst>
      <p:ext uri="{BB962C8B-B14F-4D97-AF65-F5344CB8AC3E}">
        <p14:creationId xmlns:p14="http://schemas.microsoft.com/office/powerpoint/2010/main" val="499376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7F2D8D-41C7-7A26-E92A-5846FC7BDE2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28BC9F0-6ED7-1E1E-FF3E-F036E21FAD3E}"/>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963B97-805E-09D0-3AE9-798CC7EAD8AC}"/>
              </a:ext>
            </a:extLst>
          </p:cNvPr>
          <p:cNvSpPr>
            <a:spLocks noGrp="1"/>
          </p:cNvSpPr>
          <p:nvPr>
            <p:ph type="dt" sz="half" idx="10"/>
          </p:nvPr>
        </p:nvSpPr>
        <p:spPr/>
        <p:txBody>
          <a:bodyPr/>
          <a:lstStyle/>
          <a:p>
            <a:fld id="{053FC582-A7B8-459E-BA49-483DC6078BE8}" type="datetimeFigureOut">
              <a:rPr lang="en-IN" smtClean="0"/>
              <a:t>19-08-2025</a:t>
            </a:fld>
            <a:endParaRPr lang="en-IN"/>
          </a:p>
        </p:txBody>
      </p:sp>
      <p:sp>
        <p:nvSpPr>
          <p:cNvPr id="5" name="Footer Placeholder 4">
            <a:extLst>
              <a:ext uri="{FF2B5EF4-FFF2-40B4-BE49-F238E27FC236}">
                <a16:creationId xmlns:a16="http://schemas.microsoft.com/office/drawing/2014/main" id="{02B4A202-F8B8-EF0D-0387-8C830B3A8D6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BFAD4D-A2DC-E230-CD89-3A4F92D07B1C}"/>
              </a:ext>
            </a:extLst>
          </p:cNvPr>
          <p:cNvSpPr>
            <a:spLocks noGrp="1"/>
          </p:cNvSpPr>
          <p:nvPr>
            <p:ph type="sldNum" sz="quarter" idx="12"/>
          </p:nvPr>
        </p:nvSpPr>
        <p:spPr/>
        <p:txBody>
          <a:bodyPr/>
          <a:lstStyle/>
          <a:p>
            <a:fld id="{5F945DBD-9C3E-4678-8BE3-FBE10F27C3A0}" type="slidenum">
              <a:rPr lang="en-IN" smtClean="0"/>
              <a:t>‹#›</a:t>
            </a:fld>
            <a:endParaRPr lang="en-IN"/>
          </a:p>
        </p:txBody>
      </p:sp>
    </p:spTree>
    <p:extLst>
      <p:ext uri="{BB962C8B-B14F-4D97-AF65-F5344CB8AC3E}">
        <p14:creationId xmlns:p14="http://schemas.microsoft.com/office/powerpoint/2010/main" val="34204518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B6680D-EA63-15BA-CBFC-43DE05E20E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91C3801-0E80-B579-1B64-4F823041D8C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F77BD22D-BDAA-4538-5A85-E38A9D4FCC1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C7F8A1B-8BD6-97C9-F429-5AA292AD1C0B}"/>
              </a:ext>
            </a:extLst>
          </p:cNvPr>
          <p:cNvSpPr>
            <a:spLocks noGrp="1"/>
          </p:cNvSpPr>
          <p:nvPr>
            <p:ph type="dt" sz="half" idx="10"/>
          </p:nvPr>
        </p:nvSpPr>
        <p:spPr/>
        <p:txBody>
          <a:bodyPr/>
          <a:lstStyle/>
          <a:p>
            <a:fld id="{053FC582-A7B8-459E-BA49-483DC6078BE8}" type="datetimeFigureOut">
              <a:rPr lang="en-IN" smtClean="0"/>
              <a:t>19-08-2025</a:t>
            </a:fld>
            <a:endParaRPr lang="en-IN"/>
          </a:p>
        </p:txBody>
      </p:sp>
      <p:sp>
        <p:nvSpPr>
          <p:cNvPr id="6" name="Footer Placeholder 5">
            <a:extLst>
              <a:ext uri="{FF2B5EF4-FFF2-40B4-BE49-F238E27FC236}">
                <a16:creationId xmlns:a16="http://schemas.microsoft.com/office/drawing/2014/main" id="{6A0D5156-0FE8-D2D3-F1AA-19A957C780A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82A447-B147-575F-441B-881C2756FA8C}"/>
              </a:ext>
            </a:extLst>
          </p:cNvPr>
          <p:cNvSpPr>
            <a:spLocks noGrp="1"/>
          </p:cNvSpPr>
          <p:nvPr>
            <p:ph type="sldNum" sz="quarter" idx="12"/>
          </p:nvPr>
        </p:nvSpPr>
        <p:spPr/>
        <p:txBody>
          <a:bodyPr/>
          <a:lstStyle/>
          <a:p>
            <a:fld id="{5F945DBD-9C3E-4678-8BE3-FBE10F27C3A0}" type="slidenum">
              <a:rPr lang="en-IN" smtClean="0"/>
              <a:t>‹#›</a:t>
            </a:fld>
            <a:endParaRPr lang="en-IN"/>
          </a:p>
        </p:txBody>
      </p:sp>
    </p:spTree>
    <p:extLst>
      <p:ext uri="{BB962C8B-B14F-4D97-AF65-F5344CB8AC3E}">
        <p14:creationId xmlns:p14="http://schemas.microsoft.com/office/powerpoint/2010/main" val="37456486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01696-D8C6-EE94-CE65-CDC14A0FA0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F97C3C5-3194-9993-26DE-473BFB65524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47C5F6C-E280-0D8D-D230-EF9AC843AF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461D9D5-20EB-94A5-C669-F550A918B0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AC6F573-A188-0E7E-5219-92871A06FB5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70FD90E9-5F18-34DD-2D9D-A7AF634F25FE}"/>
              </a:ext>
            </a:extLst>
          </p:cNvPr>
          <p:cNvSpPr>
            <a:spLocks noGrp="1"/>
          </p:cNvSpPr>
          <p:nvPr>
            <p:ph type="dt" sz="half" idx="10"/>
          </p:nvPr>
        </p:nvSpPr>
        <p:spPr/>
        <p:txBody>
          <a:bodyPr/>
          <a:lstStyle/>
          <a:p>
            <a:fld id="{053FC582-A7B8-459E-BA49-483DC6078BE8}" type="datetimeFigureOut">
              <a:rPr lang="en-IN" smtClean="0"/>
              <a:t>19-08-2025</a:t>
            </a:fld>
            <a:endParaRPr lang="en-IN"/>
          </a:p>
        </p:txBody>
      </p:sp>
      <p:sp>
        <p:nvSpPr>
          <p:cNvPr id="8" name="Footer Placeholder 7">
            <a:extLst>
              <a:ext uri="{FF2B5EF4-FFF2-40B4-BE49-F238E27FC236}">
                <a16:creationId xmlns:a16="http://schemas.microsoft.com/office/drawing/2014/main" id="{F3B2AEC9-8772-2CCE-2110-0B4DFD03E10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331A4699-A45C-946E-A902-BDC4BEB994E6}"/>
              </a:ext>
            </a:extLst>
          </p:cNvPr>
          <p:cNvSpPr>
            <a:spLocks noGrp="1"/>
          </p:cNvSpPr>
          <p:nvPr>
            <p:ph type="sldNum" sz="quarter" idx="12"/>
          </p:nvPr>
        </p:nvSpPr>
        <p:spPr/>
        <p:txBody>
          <a:bodyPr/>
          <a:lstStyle/>
          <a:p>
            <a:fld id="{5F945DBD-9C3E-4678-8BE3-FBE10F27C3A0}" type="slidenum">
              <a:rPr lang="en-IN" smtClean="0"/>
              <a:t>‹#›</a:t>
            </a:fld>
            <a:endParaRPr lang="en-IN"/>
          </a:p>
        </p:txBody>
      </p:sp>
    </p:spTree>
    <p:extLst>
      <p:ext uri="{BB962C8B-B14F-4D97-AF65-F5344CB8AC3E}">
        <p14:creationId xmlns:p14="http://schemas.microsoft.com/office/powerpoint/2010/main" val="42029220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FB403-6198-A610-B74D-44B0BDA7763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6883896-7E2C-ADB3-559A-2C3843672574}"/>
              </a:ext>
            </a:extLst>
          </p:cNvPr>
          <p:cNvSpPr>
            <a:spLocks noGrp="1"/>
          </p:cNvSpPr>
          <p:nvPr>
            <p:ph type="dt" sz="half" idx="10"/>
          </p:nvPr>
        </p:nvSpPr>
        <p:spPr/>
        <p:txBody>
          <a:bodyPr/>
          <a:lstStyle/>
          <a:p>
            <a:fld id="{053FC582-A7B8-459E-BA49-483DC6078BE8}" type="datetimeFigureOut">
              <a:rPr lang="en-IN" smtClean="0"/>
              <a:t>19-08-2025</a:t>
            </a:fld>
            <a:endParaRPr lang="en-IN"/>
          </a:p>
        </p:txBody>
      </p:sp>
      <p:sp>
        <p:nvSpPr>
          <p:cNvPr id="4" name="Footer Placeholder 3">
            <a:extLst>
              <a:ext uri="{FF2B5EF4-FFF2-40B4-BE49-F238E27FC236}">
                <a16:creationId xmlns:a16="http://schemas.microsoft.com/office/drawing/2014/main" id="{05F1C17B-DBC1-932A-0A0F-32E30E79310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C2274BE-6A96-CB2C-33C8-219EAA5800B5}"/>
              </a:ext>
            </a:extLst>
          </p:cNvPr>
          <p:cNvSpPr>
            <a:spLocks noGrp="1"/>
          </p:cNvSpPr>
          <p:nvPr>
            <p:ph type="sldNum" sz="quarter" idx="12"/>
          </p:nvPr>
        </p:nvSpPr>
        <p:spPr/>
        <p:txBody>
          <a:bodyPr/>
          <a:lstStyle/>
          <a:p>
            <a:fld id="{5F945DBD-9C3E-4678-8BE3-FBE10F27C3A0}" type="slidenum">
              <a:rPr lang="en-IN" smtClean="0"/>
              <a:t>‹#›</a:t>
            </a:fld>
            <a:endParaRPr lang="en-IN"/>
          </a:p>
        </p:txBody>
      </p:sp>
    </p:spTree>
    <p:extLst>
      <p:ext uri="{BB962C8B-B14F-4D97-AF65-F5344CB8AC3E}">
        <p14:creationId xmlns:p14="http://schemas.microsoft.com/office/powerpoint/2010/main" val="3604111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6B5EACD-1BC4-6C03-308D-399B746C7D2D}"/>
              </a:ext>
            </a:extLst>
          </p:cNvPr>
          <p:cNvSpPr>
            <a:spLocks noGrp="1"/>
          </p:cNvSpPr>
          <p:nvPr>
            <p:ph type="dt" sz="half" idx="10"/>
          </p:nvPr>
        </p:nvSpPr>
        <p:spPr/>
        <p:txBody>
          <a:bodyPr/>
          <a:lstStyle/>
          <a:p>
            <a:fld id="{053FC582-A7B8-459E-BA49-483DC6078BE8}" type="datetimeFigureOut">
              <a:rPr lang="en-IN" smtClean="0"/>
              <a:t>19-08-2025</a:t>
            </a:fld>
            <a:endParaRPr lang="en-IN"/>
          </a:p>
        </p:txBody>
      </p:sp>
      <p:sp>
        <p:nvSpPr>
          <p:cNvPr id="3" name="Footer Placeholder 2">
            <a:extLst>
              <a:ext uri="{FF2B5EF4-FFF2-40B4-BE49-F238E27FC236}">
                <a16:creationId xmlns:a16="http://schemas.microsoft.com/office/drawing/2014/main" id="{0F6767CA-A0F7-D9B0-EAF4-4C17CAD973F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055A4F01-82A6-402D-E760-11E3FA2E3061}"/>
              </a:ext>
            </a:extLst>
          </p:cNvPr>
          <p:cNvSpPr>
            <a:spLocks noGrp="1"/>
          </p:cNvSpPr>
          <p:nvPr>
            <p:ph type="sldNum" sz="quarter" idx="12"/>
          </p:nvPr>
        </p:nvSpPr>
        <p:spPr/>
        <p:txBody>
          <a:bodyPr/>
          <a:lstStyle/>
          <a:p>
            <a:fld id="{5F945DBD-9C3E-4678-8BE3-FBE10F27C3A0}" type="slidenum">
              <a:rPr lang="en-IN" smtClean="0"/>
              <a:t>‹#›</a:t>
            </a:fld>
            <a:endParaRPr lang="en-IN"/>
          </a:p>
        </p:txBody>
      </p:sp>
    </p:spTree>
    <p:extLst>
      <p:ext uri="{BB962C8B-B14F-4D97-AF65-F5344CB8AC3E}">
        <p14:creationId xmlns:p14="http://schemas.microsoft.com/office/powerpoint/2010/main" val="25291653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A0D340-D57E-82C7-6BFF-7D7F3C10DAF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8388670-CCC3-8135-2168-0202759011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A8B6080-292C-F8D4-62D6-E849C488C5F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7BE190-95E0-D67A-CB88-3A13051D49F7}"/>
              </a:ext>
            </a:extLst>
          </p:cNvPr>
          <p:cNvSpPr>
            <a:spLocks noGrp="1"/>
          </p:cNvSpPr>
          <p:nvPr>
            <p:ph type="dt" sz="half" idx="10"/>
          </p:nvPr>
        </p:nvSpPr>
        <p:spPr/>
        <p:txBody>
          <a:bodyPr/>
          <a:lstStyle/>
          <a:p>
            <a:fld id="{053FC582-A7B8-459E-BA49-483DC6078BE8}" type="datetimeFigureOut">
              <a:rPr lang="en-IN" smtClean="0"/>
              <a:t>19-08-2025</a:t>
            </a:fld>
            <a:endParaRPr lang="en-IN"/>
          </a:p>
        </p:txBody>
      </p:sp>
      <p:sp>
        <p:nvSpPr>
          <p:cNvPr id="6" name="Footer Placeholder 5">
            <a:extLst>
              <a:ext uri="{FF2B5EF4-FFF2-40B4-BE49-F238E27FC236}">
                <a16:creationId xmlns:a16="http://schemas.microsoft.com/office/drawing/2014/main" id="{D5192A4D-FE92-C122-B573-F5D2B8FF63A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A228C72-EB04-D7B9-FCFB-3DB74898470C}"/>
              </a:ext>
            </a:extLst>
          </p:cNvPr>
          <p:cNvSpPr>
            <a:spLocks noGrp="1"/>
          </p:cNvSpPr>
          <p:nvPr>
            <p:ph type="sldNum" sz="quarter" idx="12"/>
          </p:nvPr>
        </p:nvSpPr>
        <p:spPr/>
        <p:txBody>
          <a:bodyPr/>
          <a:lstStyle/>
          <a:p>
            <a:fld id="{5F945DBD-9C3E-4678-8BE3-FBE10F27C3A0}" type="slidenum">
              <a:rPr lang="en-IN" smtClean="0"/>
              <a:t>‹#›</a:t>
            </a:fld>
            <a:endParaRPr lang="en-IN"/>
          </a:p>
        </p:txBody>
      </p:sp>
    </p:spTree>
    <p:extLst>
      <p:ext uri="{BB962C8B-B14F-4D97-AF65-F5344CB8AC3E}">
        <p14:creationId xmlns:p14="http://schemas.microsoft.com/office/powerpoint/2010/main" val="35755488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6E786D-DEC1-C899-A192-8F2A1DA3F54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C864D02-1799-0951-23B1-D169133ADBE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82C7388-1D60-5051-379B-B0FC50FF75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304C105-5E14-36DC-04A7-426E81D57770}"/>
              </a:ext>
            </a:extLst>
          </p:cNvPr>
          <p:cNvSpPr>
            <a:spLocks noGrp="1"/>
          </p:cNvSpPr>
          <p:nvPr>
            <p:ph type="dt" sz="half" idx="10"/>
          </p:nvPr>
        </p:nvSpPr>
        <p:spPr/>
        <p:txBody>
          <a:bodyPr/>
          <a:lstStyle/>
          <a:p>
            <a:fld id="{053FC582-A7B8-459E-BA49-483DC6078BE8}" type="datetimeFigureOut">
              <a:rPr lang="en-IN" smtClean="0"/>
              <a:t>19-08-2025</a:t>
            </a:fld>
            <a:endParaRPr lang="en-IN"/>
          </a:p>
        </p:txBody>
      </p:sp>
      <p:sp>
        <p:nvSpPr>
          <p:cNvPr id="6" name="Footer Placeholder 5">
            <a:extLst>
              <a:ext uri="{FF2B5EF4-FFF2-40B4-BE49-F238E27FC236}">
                <a16:creationId xmlns:a16="http://schemas.microsoft.com/office/drawing/2014/main" id="{21C39B91-9CDF-08AF-0411-3AFEE157E9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355FB0D-D295-C6C7-8649-C92489D3513C}"/>
              </a:ext>
            </a:extLst>
          </p:cNvPr>
          <p:cNvSpPr>
            <a:spLocks noGrp="1"/>
          </p:cNvSpPr>
          <p:nvPr>
            <p:ph type="sldNum" sz="quarter" idx="12"/>
          </p:nvPr>
        </p:nvSpPr>
        <p:spPr/>
        <p:txBody>
          <a:bodyPr/>
          <a:lstStyle/>
          <a:p>
            <a:fld id="{5F945DBD-9C3E-4678-8BE3-FBE10F27C3A0}" type="slidenum">
              <a:rPr lang="en-IN" smtClean="0"/>
              <a:t>‹#›</a:t>
            </a:fld>
            <a:endParaRPr lang="en-IN"/>
          </a:p>
        </p:txBody>
      </p:sp>
    </p:spTree>
    <p:extLst>
      <p:ext uri="{BB962C8B-B14F-4D97-AF65-F5344CB8AC3E}">
        <p14:creationId xmlns:p14="http://schemas.microsoft.com/office/powerpoint/2010/main" val="19870684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01827-460B-1394-8FE2-9C9F9F82754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4A1FC4A-1611-8E22-4CF5-A946A19B59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FC862D-D26E-777A-1F5E-FD0E3F246D5D}"/>
              </a:ext>
            </a:extLst>
          </p:cNvPr>
          <p:cNvSpPr>
            <a:spLocks noGrp="1"/>
          </p:cNvSpPr>
          <p:nvPr>
            <p:ph type="dt" sz="half" idx="10"/>
          </p:nvPr>
        </p:nvSpPr>
        <p:spPr/>
        <p:txBody>
          <a:bodyPr/>
          <a:lstStyle/>
          <a:p>
            <a:fld id="{053FC582-A7B8-459E-BA49-483DC6078BE8}" type="datetimeFigureOut">
              <a:rPr lang="en-IN" smtClean="0"/>
              <a:t>19-08-2025</a:t>
            </a:fld>
            <a:endParaRPr lang="en-IN"/>
          </a:p>
        </p:txBody>
      </p:sp>
      <p:sp>
        <p:nvSpPr>
          <p:cNvPr id="5" name="Footer Placeholder 4">
            <a:extLst>
              <a:ext uri="{FF2B5EF4-FFF2-40B4-BE49-F238E27FC236}">
                <a16:creationId xmlns:a16="http://schemas.microsoft.com/office/drawing/2014/main" id="{DE278335-0AC9-7841-678E-E36014151F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F1994A-E185-2C26-1E1D-FD262784F5F2}"/>
              </a:ext>
            </a:extLst>
          </p:cNvPr>
          <p:cNvSpPr>
            <a:spLocks noGrp="1"/>
          </p:cNvSpPr>
          <p:nvPr>
            <p:ph type="sldNum" sz="quarter" idx="12"/>
          </p:nvPr>
        </p:nvSpPr>
        <p:spPr/>
        <p:txBody>
          <a:bodyPr/>
          <a:lstStyle/>
          <a:p>
            <a:fld id="{5F945DBD-9C3E-4678-8BE3-FBE10F27C3A0}" type="slidenum">
              <a:rPr lang="en-IN" smtClean="0"/>
              <a:t>‹#›</a:t>
            </a:fld>
            <a:endParaRPr lang="en-IN"/>
          </a:p>
        </p:txBody>
      </p:sp>
    </p:spTree>
    <p:extLst>
      <p:ext uri="{BB962C8B-B14F-4D97-AF65-F5344CB8AC3E}">
        <p14:creationId xmlns:p14="http://schemas.microsoft.com/office/powerpoint/2010/main" val="18883470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111AEF4-C4F6-DABC-6228-26EAFBAE316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EC42B65-7EED-91B4-B62A-84ADF9A00949}"/>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D92F40-C77A-7FC5-8F39-D372BCCD2FD2}"/>
              </a:ext>
            </a:extLst>
          </p:cNvPr>
          <p:cNvSpPr>
            <a:spLocks noGrp="1"/>
          </p:cNvSpPr>
          <p:nvPr>
            <p:ph type="dt" sz="half" idx="10"/>
          </p:nvPr>
        </p:nvSpPr>
        <p:spPr/>
        <p:txBody>
          <a:bodyPr/>
          <a:lstStyle/>
          <a:p>
            <a:fld id="{053FC582-A7B8-459E-BA49-483DC6078BE8}" type="datetimeFigureOut">
              <a:rPr lang="en-IN" smtClean="0"/>
              <a:t>19-08-2025</a:t>
            </a:fld>
            <a:endParaRPr lang="en-IN"/>
          </a:p>
        </p:txBody>
      </p:sp>
      <p:sp>
        <p:nvSpPr>
          <p:cNvPr id="5" name="Footer Placeholder 4">
            <a:extLst>
              <a:ext uri="{FF2B5EF4-FFF2-40B4-BE49-F238E27FC236}">
                <a16:creationId xmlns:a16="http://schemas.microsoft.com/office/drawing/2014/main" id="{6347B1DF-5EBD-0765-85A8-D87FF466036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E424B4-EE01-ACD4-20F2-6C36F1F86F02}"/>
              </a:ext>
            </a:extLst>
          </p:cNvPr>
          <p:cNvSpPr>
            <a:spLocks noGrp="1"/>
          </p:cNvSpPr>
          <p:nvPr>
            <p:ph type="sldNum" sz="quarter" idx="12"/>
          </p:nvPr>
        </p:nvSpPr>
        <p:spPr/>
        <p:txBody>
          <a:bodyPr/>
          <a:lstStyle/>
          <a:p>
            <a:fld id="{5F945DBD-9C3E-4678-8BE3-FBE10F27C3A0}" type="slidenum">
              <a:rPr lang="en-IN" smtClean="0"/>
              <a:t>‹#›</a:t>
            </a:fld>
            <a:endParaRPr lang="en-IN"/>
          </a:p>
        </p:txBody>
      </p:sp>
    </p:spTree>
    <p:extLst>
      <p:ext uri="{BB962C8B-B14F-4D97-AF65-F5344CB8AC3E}">
        <p14:creationId xmlns:p14="http://schemas.microsoft.com/office/powerpoint/2010/main" val="1495851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96BE9B-48C3-46FA-680A-0E4AFD89E1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7937EFC-E831-5EFF-B2A3-4BF629272F0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581563B-38E5-C3CB-FA00-119678AFF5D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53FC582-A7B8-459E-BA49-483DC6078BE8}" type="datetimeFigureOut">
              <a:rPr lang="en-IN" smtClean="0"/>
              <a:t>19-08-2025</a:t>
            </a:fld>
            <a:endParaRPr lang="en-IN"/>
          </a:p>
        </p:txBody>
      </p:sp>
      <p:sp>
        <p:nvSpPr>
          <p:cNvPr id="5" name="Footer Placeholder 4">
            <a:extLst>
              <a:ext uri="{FF2B5EF4-FFF2-40B4-BE49-F238E27FC236}">
                <a16:creationId xmlns:a16="http://schemas.microsoft.com/office/drawing/2014/main" id="{00A47B7D-76AF-5503-BA3B-53C5D4933EA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A5363FC5-E7AF-9118-FD3F-7159CC31A8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F945DBD-9C3E-4678-8BE3-FBE10F27C3A0}" type="slidenum">
              <a:rPr lang="en-IN" smtClean="0"/>
              <a:t>‹#›</a:t>
            </a:fld>
            <a:endParaRPr lang="en-IN"/>
          </a:p>
        </p:txBody>
      </p:sp>
    </p:spTree>
    <p:extLst>
      <p:ext uri="{BB962C8B-B14F-4D97-AF65-F5344CB8AC3E}">
        <p14:creationId xmlns:p14="http://schemas.microsoft.com/office/powerpoint/2010/main" val="195634078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AA27AC-3DB2-0722-C93D-0CDCEB3A8324}"/>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42518C2E-F108-4F1D-9494-5DBB85B4454A}"/>
              </a:ext>
            </a:extLst>
          </p:cNvPr>
          <p:cNvSpPr txBox="1">
            <a:spLocks noGrp="1"/>
          </p:cNvSpPr>
          <p:nvPr>
            <p:ph type="ctrTitle"/>
          </p:nvPr>
        </p:nvSpPr>
        <p:spPr>
          <a:xfrm>
            <a:off x="1634247" y="222702"/>
            <a:ext cx="8923506" cy="1940916"/>
          </a:xfrm>
          <a:prstGeom prst="rect">
            <a:avLst/>
          </a:prstGeom>
          <a:noFill/>
        </p:spPr>
        <p:txBody>
          <a:bodyPr wrap="square">
            <a:spAutoFit/>
          </a:bodyPr>
          <a:lstStyle/>
          <a:p>
            <a:pPr>
              <a:lnSpc>
                <a:spcPct val="150000"/>
              </a:lnSpc>
            </a:pPr>
            <a:r>
              <a:rPr lang="en-US" sz="2400" b="1" dirty="0">
                <a:latin typeface="Times New Roman" panose="02020603050405020304" pitchFamily="18" charset="0"/>
                <a:cs typeface="Times New Roman" panose="02020603050405020304" pitchFamily="18" charset="0"/>
              </a:rPr>
              <a:t>ALAGAPPA UNIVERSITY</a:t>
            </a:r>
            <a:br>
              <a:rPr lang="en-IN" sz="20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State University | A++ Grade by NAAC(GCPA:3.59)in the 4</a:t>
            </a:r>
            <a:r>
              <a:rPr lang="en-US" sz="1400" baseline="30000" dirty="0">
                <a:latin typeface="Times New Roman" panose="02020603050405020304" pitchFamily="18" charset="0"/>
                <a:cs typeface="Times New Roman" panose="02020603050405020304" pitchFamily="18" charset="0"/>
              </a:rPr>
              <a:t>th</a:t>
            </a:r>
            <a:r>
              <a:rPr lang="en-US" sz="1400" dirty="0">
                <a:latin typeface="Times New Roman" panose="02020603050405020304" pitchFamily="18" charset="0"/>
                <a:cs typeface="Times New Roman" panose="02020603050405020304" pitchFamily="18" charset="0"/>
              </a:rPr>
              <a:t> Cycle in dual mode | Category-I</a:t>
            </a:r>
            <a:br>
              <a:rPr lang="en-IN"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University by MHRD-UGC</a:t>
            </a:r>
            <a:br>
              <a:rPr lang="en-IN" sz="1400" dirty="0">
                <a:latin typeface="Times New Roman" panose="02020603050405020304" pitchFamily="18" charset="0"/>
                <a:cs typeface="Times New Roman" panose="02020603050405020304" pitchFamily="18" charset="0"/>
              </a:rPr>
            </a:br>
            <a:r>
              <a:rPr lang="en-US" sz="1400" dirty="0">
                <a:latin typeface="Times New Roman" panose="02020603050405020304" pitchFamily="18" charset="0"/>
                <a:cs typeface="Times New Roman" panose="02020603050405020304" pitchFamily="18" charset="0"/>
              </a:rPr>
              <a:t>Karaikudi-630 003,Tamil Nadu, India</a:t>
            </a:r>
            <a:br>
              <a:rPr lang="en-IN" sz="1600" dirty="0">
                <a:latin typeface="Times New Roman" panose="02020603050405020304" pitchFamily="18" charset="0"/>
                <a:cs typeface="Times New Roman" panose="02020603050405020304" pitchFamily="18" charset="0"/>
              </a:rPr>
            </a:br>
            <a:endParaRPr sz="1600"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64CB27CC-1D69-7378-D869-E23C619CB46E}"/>
              </a:ext>
            </a:extLst>
          </p:cNvPr>
          <p:cNvSpPr txBox="1"/>
          <p:nvPr/>
        </p:nvSpPr>
        <p:spPr>
          <a:xfrm>
            <a:off x="3048000" y="1955428"/>
            <a:ext cx="6096000" cy="786754"/>
          </a:xfrm>
          <a:prstGeom prst="rect">
            <a:avLst/>
          </a:prstGeom>
          <a:noFill/>
        </p:spPr>
        <p:txBody>
          <a:bodyPr wrap="square">
            <a:spAutoFit/>
          </a:bodyPr>
          <a:lstStyle/>
          <a:p>
            <a:pPr algn="ctr">
              <a:lnSpc>
                <a:spcPct val="150000"/>
              </a:lnSpc>
              <a:spcAft>
                <a:spcPts val="1000"/>
              </a:spcAft>
              <a:buNone/>
            </a:pPr>
            <a:r>
              <a:rPr lang="en-US" sz="16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Inter/Intra Institutional Start-up Competition and Deposition in the Institution’s YUKTI-Innovation Repository</a:t>
            </a:r>
            <a:endParaRPr lang="en-IN" sz="1600" b="1"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
        <p:nvSpPr>
          <p:cNvPr id="7" name="TextBox 6">
            <a:extLst>
              <a:ext uri="{FF2B5EF4-FFF2-40B4-BE49-F238E27FC236}">
                <a16:creationId xmlns:a16="http://schemas.microsoft.com/office/drawing/2014/main" id="{3816A71C-D13C-844A-C3BD-42844A67A19F}"/>
              </a:ext>
            </a:extLst>
          </p:cNvPr>
          <p:cNvSpPr txBox="1"/>
          <p:nvPr/>
        </p:nvSpPr>
        <p:spPr>
          <a:xfrm>
            <a:off x="3165987" y="5163614"/>
            <a:ext cx="6096000" cy="417422"/>
          </a:xfrm>
          <a:prstGeom prst="rect">
            <a:avLst/>
          </a:prstGeom>
          <a:noFill/>
        </p:spPr>
        <p:txBody>
          <a:bodyPr wrap="square">
            <a:spAutoFit/>
          </a:bodyPr>
          <a:lstStyle/>
          <a:p>
            <a:pPr algn="ctr">
              <a:lnSpc>
                <a:spcPct val="150000"/>
              </a:lnSpc>
              <a:spcAft>
                <a:spcPts val="1000"/>
              </a:spcAft>
              <a:buNone/>
            </a:pPr>
            <a:r>
              <a:rPr lang="en-US" sz="1600" dirty="0">
                <a:effectLst/>
                <a:latin typeface="Times New Roman" panose="02020603050405020304" pitchFamily="18" charset="0"/>
                <a:ea typeface="Calibri" panose="020F0502020204030204" pitchFamily="34" charset="0"/>
                <a:cs typeface="Times New Roman" panose="02020603050405020304" pitchFamily="18" charset="0"/>
              </a:rPr>
              <a:t>Department of Computer Applications</a:t>
            </a:r>
            <a:endParaRPr lang="en-IN" sz="1600" dirty="0">
              <a:effectLst/>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13" name="Picture 12">
            <a:extLst>
              <a:ext uri="{FF2B5EF4-FFF2-40B4-BE49-F238E27FC236}">
                <a16:creationId xmlns:a16="http://schemas.microsoft.com/office/drawing/2014/main" id="{BEB80F3D-8DC5-1A2C-94C1-602C563D19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92304" y="2592648"/>
            <a:ext cx="2607392" cy="2607392"/>
          </a:xfrm>
          <a:prstGeom prst="rect">
            <a:avLst/>
          </a:prstGeom>
        </p:spPr>
      </p:pic>
      <p:sp>
        <p:nvSpPr>
          <p:cNvPr id="11" name="TextBox 10">
            <a:extLst>
              <a:ext uri="{FF2B5EF4-FFF2-40B4-BE49-F238E27FC236}">
                <a16:creationId xmlns:a16="http://schemas.microsoft.com/office/drawing/2014/main" id="{745B25CC-8266-7BBA-C765-3E184372BCA5}"/>
              </a:ext>
            </a:extLst>
          </p:cNvPr>
          <p:cNvSpPr txBox="1"/>
          <p:nvPr/>
        </p:nvSpPr>
        <p:spPr>
          <a:xfrm>
            <a:off x="3728424" y="5912872"/>
            <a:ext cx="6339810" cy="584775"/>
          </a:xfrm>
          <a:prstGeom prst="rect">
            <a:avLst/>
          </a:prstGeom>
          <a:noFill/>
        </p:spPr>
        <p:txBody>
          <a:bodyPr wrap="square">
            <a:spAutoFit/>
          </a:bodyPr>
          <a:lstStyle/>
          <a:p>
            <a:r>
              <a:rPr lang="en-US" sz="1600" dirty="0">
                <a:latin typeface="Times New Roman" panose="02020603050405020304" pitchFamily="18" charset="0"/>
                <a:cs typeface="Times New Roman" panose="02020603050405020304" pitchFamily="18" charset="0"/>
              </a:rPr>
              <a:t>C</a:t>
            </a:r>
            <a:r>
              <a:rPr lang="en-IN" sz="1600" dirty="0">
                <a:latin typeface="Times New Roman" panose="02020603050405020304" pitchFamily="18" charset="0"/>
                <a:cs typeface="Times New Roman" panose="02020603050405020304" pitchFamily="18" charset="0"/>
              </a:rPr>
              <a:t>o-</a:t>
            </a:r>
            <a:r>
              <a:rPr lang="en-IN" sz="1600" dirty="0" err="1">
                <a:latin typeface="Times New Roman" panose="02020603050405020304" pitchFamily="18" charset="0"/>
                <a:cs typeface="Times New Roman" panose="02020603050405020304" pitchFamily="18" charset="0"/>
              </a:rPr>
              <a:t>ordinator</a:t>
            </a:r>
            <a:r>
              <a:rPr lang="en-IN" sz="1600" dirty="0">
                <a:latin typeface="Times New Roman" panose="02020603050405020304" pitchFamily="18" charset="0"/>
                <a:cs typeface="Times New Roman" panose="02020603050405020304" pitchFamily="18" charset="0"/>
              </a:rPr>
              <a:t>:  </a:t>
            </a:r>
            <a:r>
              <a:rPr lang="en-IN" sz="1600" dirty="0" err="1">
                <a:latin typeface="Times New Roman" panose="02020603050405020304" pitchFamily="18" charset="0"/>
                <a:cs typeface="Times New Roman" panose="02020603050405020304" pitchFamily="18" charset="0"/>
              </a:rPr>
              <a:t>Dr.A</a:t>
            </a:r>
            <a:r>
              <a:rPr lang="en-IN" sz="1600" dirty="0">
                <a:latin typeface="Times New Roman" panose="02020603050405020304" pitchFamily="18" charset="0"/>
                <a:cs typeface="Times New Roman" panose="02020603050405020304" pitchFamily="18" charset="0"/>
              </a:rPr>
              <a:t>. Nagarajan, MCA ., </a:t>
            </a:r>
            <a:r>
              <a:rPr lang="en-IN" sz="1600" dirty="0" err="1">
                <a:latin typeface="Times New Roman" panose="02020603050405020304" pitchFamily="18" charset="0"/>
                <a:cs typeface="Times New Roman" panose="02020603050405020304" pitchFamily="18" charset="0"/>
              </a:rPr>
              <a:t>M.Phil</a:t>
            </a:r>
            <a:r>
              <a:rPr lang="en-IN" sz="1600" dirty="0">
                <a:latin typeface="Times New Roman" panose="02020603050405020304" pitchFamily="18" charset="0"/>
                <a:cs typeface="Times New Roman" panose="02020603050405020304" pitchFamily="18" charset="0"/>
              </a:rPr>
              <a:t> ., Ph.D..,</a:t>
            </a:r>
          </a:p>
          <a:p>
            <a:endParaRPr lang="en-IN" sz="1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354880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C4AEC4-B749-D28B-ACE4-C6D03AA726A9}"/>
              </a:ext>
            </a:extLst>
          </p:cNvPr>
          <p:cNvSpPr txBox="1">
            <a:spLocks noGrp="1"/>
          </p:cNvSpPr>
          <p:nvPr>
            <p:ph type="ctrTitle"/>
          </p:nvPr>
        </p:nvSpPr>
        <p:spPr>
          <a:xfrm>
            <a:off x="1769806" y="804823"/>
            <a:ext cx="8923506" cy="424732"/>
          </a:xfrm>
          <a:prstGeom prst="rect">
            <a:avLst/>
          </a:prstGeom>
          <a:noFill/>
        </p:spPr>
        <p:txBody>
          <a:bodyPr wrap="square">
            <a:spAutoFit/>
          </a:bodyPr>
          <a:lstStyle/>
          <a:p>
            <a:pPr algn="ctr">
              <a:defRPr sz="4600" b="1">
                <a:latin typeface="Times New Roman"/>
              </a:defRPr>
            </a:pPr>
            <a:r>
              <a:rPr lang="en-US" sz="2400" dirty="0"/>
              <a:t>ANIMAL BEHAVIOUR MONITORING SYSTEM USING IOT</a:t>
            </a:r>
          </a:p>
        </p:txBody>
      </p:sp>
      <p:pic>
        <p:nvPicPr>
          <p:cNvPr id="2" name="Picture 1">
            <a:extLst>
              <a:ext uri="{FF2B5EF4-FFF2-40B4-BE49-F238E27FC236}">
                <a16:creationId xmlns:a16="http://schemas.microsoft.com/office/drawing/2014/main" id="{C4D4EDEE-876E-C12A-F3D2-0BF56D1B77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46498" y="1017189"/>
            <a:ext cx="2607392" cy="2607392"/>
          </a:xfrm>
          <a:prstGeom prst="rect">
            <a:avLst/>
          </a:prstGeom>
        </p:spPr>
      </p:pic>
      <p:sp>
        <p:nvSpPr>
          <p:cNvPr id="3" name="Google Shape;159;p1">
            <a:extLst>
              <a:ext uri="{FF2B5EF4-FFF2-40B4-BE49-F238E27FC236}">
                <a16:creationId xmlns:a16="http://schemas.microsoft.com/office/drawing/2014/main" id="{BFEE9764-7CF5-0C2F-CA2C-C8F8457C78B8}"/>
              </a:ext>
            </a:extLst>
          </p:cNvPr>
          <p:cNvSpPr txBox="1"/>
          <p:nvPr/>
        </p:nvSpPr>
        <p:spPr>
          <a:xfrm>
            <a:off x="4960989" y="3429000"/>
            <a:ext cx="3580738" cy="29546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600" b="0" i="0" u="none" strike="noStrike" cap="none"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Under the guidance of </a:t>
            </a:r>
          </a:p>
        </p:txBody>
      </p:sp>
      <p:sp>
        <p:nvSpPr>
          <p:cNvPr id="5" name="Google Shape;156;p1">
            <a:extLst>
              <a:ext uri="{FF2B5EF4-FFF2-40B4-BE49-F238E27FC236}">
                <a16:creationId xmlns:a16="http://schemas.microsoft.com/office/drawing/2014/main" id="{5139A7E6-6D5C-121A-2561-ED24C1559EA0}"/>
              </a:ext>
            </a:extLst>
          </p:cNvPr>
          <p:cNvSpPr txBox="1"/>
          <p:nvPr/>
        </p:nvSpPr>
        <p:spPr>
          <a:xfrm>
            <a:off x="4305516" y="3989768"/>
            <a:ext cx="6709990" cy="295466"/>
          </a:xfrm>
          <a:prstGeom prst="rect">
            <a:avLst/>
          </a:prstGeom>
          <a:noFill/>
          <a:ln>
            <a:noFill/>
          </a:ln>
        </p:spPr>
        <p:txBody>
          <a:bodyPr spcFirstLastPara="1" wrap="square" lIns="0" tIns="0" rIns="0" bIns="0" anchor="t" anchorCtr="0">
            <a:spAutoFit/>
          </a:bodyPr>
          <a:lstStyle/>
          <a:p>
            <a:pPr lvl="0" algn="just">
              <a:lnSpc>
                <a:spcPct val="120000"/>
              </a:lnSpc>
            </a:pPr>
            <a:r>
              <a:rPr lang="en-IN" sz="1600" dirty="0" err="1">
                <a:solidFill>
                  <a:srgbClr val="FF0000"/>
                </a:solidFill>
                <a:latin typeface="Times New Roman" panose="02020603050405020304" pitchFamily="18" charset="0"/>
                <a:cs typeface="Times New Roman" panose="02020603050405020304" pitchFamily="18" charset="0"/>
              </a:rPr>
              <a:t>Dr.P</a:t>
            </a:r>
            <a:r>
              <a:rPr lang="en-IN" sz="1600" dirty="0">
                <a:solidFill>
                  <a:srgbClr val="FF0000"/>
                </a:solidFill>
                <a:latin typeface="Times New Roman" panose="02020603050405020304" pitchFamily="18" charset="0"/>
                <a:cs typeface="Times New Roman" panose="02020603050405020304" pitchFamily="18" charset="0"/>
              </a:rPr>
              <a:t>. Eswaran, M.Sc., </a:t>
            </a:r>
            <a:r>
              <a:rPr lang="en-IN" sz="1600" dirty="0" err="1">
                <a:solidFill>
                  <a:srgbClr val="FF0000"/>
                </a:solidFill>
                <a:latin typeface="Times New Roman" panose="02020603050405020304" pitchFamily="18" charset="0"/>
                <a:cs typeface="Times New Roman" panose="02020603050405020304" pitchFamily="18" charset="0"/>
              </a:rPr>
              <a:t>M.Tech</a:t>
            </a:r>
            <a:r>
              <a:rPr lang="en-IN" sz="1600" dirty="0">
                <a:solidFill>
                  <a:srgbClr val="FF0000"/>
                </a:solidFill>
                <a:latin typeface="Times New Roman" panose="02020603050405020304" pitchFamily="18" charset="0"/>
                <a:cs typeface="Times New Roman" panose="02020603050405020304" pitchFamily="18" charset="0"/>
              </a:rPr>
              <a:t>., </a:t>
            </a:r>
            <a:r>
              <a:rPr lang="en-IN" sz="1600" dirty="0" err="1">
                <a:solidFill>
                  <a:srgbClr val="FF0000"/>
                </a:solidFill>
                <a:latin typeface="Times New Roman" panose="02020603050405020304" pitchFamily="18" charset="0"/>
                <a:cs typeface="Times New Roman" panose="02020603050405020304" pitchFamily="18" charset="0"/>
              </a:rPr>
              <a:t>Ph.D</a:t>
            </a:r>
            <a:r>
              <a:rPr lang="en-IN" sz="1600" dirty="0">
                <a:solidFill>
                  <a:srgbClr val="FF0000"/>
                </a:solidFill>
                <a:latin typeface="Times New Roman" panose="02020603050405020304" pitchFamily="18" charset="0"/>
                <a:cs typeface="Times New Roman" panose="02020603050405020304" pitchFamily="18" charset="0"/>
              </a:rPr>
              <a:t> .., </a:t>
            </a:r>
            <a:endParaRPr lang="en-US" sz="1600" b="0" i="0" u="none" strike="noStrike" cap="none" dirty="0">
              <a:solidFill>
                <a:srgbClr val="FF0000"/>
              </a:solidFill>
              <a:latin typeface="Times New Roman" panose="02020603050405020304" pitchFamily="18" charset="0"/>
              <a:ea typeface="Times New Roman" panose="02020603050405020304"/>
              <a:cs typeface="Times New Roman" panose="02020603050405020304" pitchFamily="18" charset="0"/>
              <a:sym typeface="Times New Roman" panose="02020603050405020304"/>
            </a:endParaRPr>
          </a:p>
        </p:txBody>
      </p:sp>
      <p:sp>
        <p:nvSpPr>
          <p:cNvPr id="6" name="Google Shape;160;p1">
            <a:extLst>
              <a:ext uri="{FF2B5EF4-FFF2-40B4-BE49-F238E27FC236}">
                <a16:creationId xmlns:a16="http://schemas.microsoft.com/office/drawing/2014/main" id="{EE14C164-8653-3126-B932-21548D2C1E28}"/>
              </a:ext>
            </a:extLst>
          </p:cNvPr>
          <p:cNvSpPr txBox="1"/>
          <p:nvPr/>
        </p:nvSpPr>
        <p:spPr>
          <a:xfrm>
            <a:off x="5049177" y="4650421"/>
            <a:ext cx="2611334" cy="29546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600" b="0" i="0" u="none" strike="noStrike" cap="none" dirty="0">
                <a:solidFill>
                  <a:srgbClr val="000000"/>
                </a:solidFill>
                <a:latin typeface="Times" panose="02020603050405020304" pitchFamily="18" charset="0"/>
                <a:ea typeface="Times New Roman" panose="02020603050405020304"/>
                <a:cs typeface="Times" panose="02020603050405020304" pitchFamily="18" charset="0"/>
                <a:sym typeface="Times New Roman" panose="02020603050405020304"/>
              </a:rPr>
              <a:t>Assistant Professor</a:t>
            </a:r>
          </a:p>
        </p:txBody>
      </p:sp>
      <p:sp>
        <p:nvSpPr>
          <p:cNvPr id="7" name="TextBox 6">
            <a:extLst>
              <a:ext uri="{FF2B5EF4-FFF2-40B4-BE49-F238E27FC236}">
                <a16:creationId xmlns:a16="http://schemas.microsoft.com/office/drawing/2014/main" id="{C35AFD9C-0898-461B-3D30-E56A83487C32}"/>
              </a:ext>
            </a:extLst>
          </p:cNvPr>
          <p:cNvSpPr txBox="1"/>
          <p:nvPr/>
        </p:nvSpPr>
        <p:spPr>
          <a:xfrm>
            <a:off x="1740691" y="6053177"/>
            <a:ext cx="9228306" cy="338554"/>
          </a:xfrm>
          <a:prstGeom prst="rect">
            <a:avLst/>
          </a:prstGeom>
          <a:noFill/>
        </p:spPr>
        <p:txBody>
          <a:bodyPr wrap="square">
            <a:spAutoFit/>
          </a:bodyPr>
          <a:lstStyle/>
          <a:p>
            <a:r>
              <a:rPr lang="en-IN" sz="1600" dirty="0">
                <a:latin typeface="Times New Roman" panose="02020603050405020304" pitchFamily="18" charset="0"/>
                <a:cs typeface="Times New Roman" panose="02020603050405020304" pitchFamily="18" charset="0"/>
              </a:rPr>
              <a:t>Presenter’s Name: SOMU R , MANI BHARATHI G , VETRI VEL ,SUJEETH NICOLES , JEYAVELAN </a:t>
            </a:r>
          </a:p>
        </p:txBody>
      </p:sp>
      <p:sp>
        <p:nvSpPr>
          <p:cNvPr id="8" name="Google Shape;160;p1">
            <a:extLst>
              <a:ext uri="{FF2B5EF4-FFF2-40B4-BE49-F238E27FC236}">
                <a16:creationId xmlns:a16="http://schemas.microsoft.com/office/drawing/2014/main" id="{60BEFCD3-F3C0-DB81-88F0-5FCAA553DB45}"/>
              </a:ext>
            </a:extLst>
          </p:cNvPr>
          <p:cNvSpPr txBox="1"/>
          <p:nvPr/>
        </p:nvSpPr>
        <p:spPr>
          <a:xfrm>
            <a:off x="4662514" y="5392524"/>
            <a:ext cx="2611334" cy="295466"/>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1600" dirty="0">
                <a:solidFill>
                  <a:srgbClr val="000000"/>
                </a:solidFill>
                <a:latin typeface="Times" panose="02020603050405020304" pitchFamily="18" charset="0"/>
                <a:ea typeface="Times New Roman" panose="02020603050405020304"/>
                <a:cs typeface="Times" panose="02020603050405020304" pitchFamily="18" charset="0"/>
                <a:sym typeface="Times New Roman" panose="02020603050405020304"/>
              </a:rPr>
              <a:t>Team Name: Tech Spartans</a:t>
            </a:r>
          </a:p>
        </p:txBody>
      </p:sp>
    </p:spTree>
    <p:extLst>
      <p:ext uri="{BB962C8B-B14F-4D97-AF65-F5344CB8AC3E}">
        <p14:creationId xmlns:p14="http://schemas.microsoft.com/office/powerpoint/2010/main" val="30709194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98755" y="2250719"/>
            <a:ext cx="10156722" cy="3926244"/>
          </a:xfrm>
        </p:spPr>
        <p:txBody>
          <a:bodyPr>
            <a:normAutofit/>
          </a:bodyPr>
          <a:lstStyle/>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Animal behavior monitoring is an emerging interdisciplinary research area with significant applications in wildlife conservation, livestock management, precision farming, and ecological studies. </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Traditional observation-based techniques are time-consuming, invasive, and subject to human error, making them insufficient for large-scale or real-time behavioral analysis. </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Recent advances in Internet of Things (IoT) have enabled the development of intelligent, automated systems that can track, analyze, and interpret animal behavior with higher accuracy and scalability</a:t>
            </a:r>
            <a:r>
              <a:rPr lang="en-US" sz="1600" dirty="0"/>
              <a:t>.</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 research highlights potential challenges such as energy efficiency in IoT devices, data privacy, network scalability, and ethical concerns regarding invasive monitoring.</a:t>
            </a:r>
          </a:p>
          <a:p>
            <a:pPr marL="0" indent="0" algn="just">
              <a:buNone/>
            </a:pPr>
            <a:endParaRPr lang="en-US" sz="1600" dirty="0">
              <a:solidFill>
                <a:srgbClr val="000000"/>
              </a:solidFill>
              <a:latin typeface="Times New Roman"/>
            </a:endParaRPr>
          </a:p>
        </p:txBody>
      </p:sp>
      <p:sp>
        <p:nvSpPr>
          <p:cNvPr id="6" name="Google Shape;166;p2">
            <a:extLst>
              <a:ext uri="{FF2B5EF4-FFF2-40B4-BE49-F238E27FC236}">
                <a16:creationId xmlns:a16="http://schemas.microsoft.com/office/drawing/2014/main" id="{E0951B4D-E2A6-D449-E2DE-A6920D87BCBB}"/>
              </a:ext>
            </a:extLst>
          </p:cNvPr>
          <p:cNvSpPr txBox="1"/>
          <p:nvPr/>
        </p:nvSpPr>
        <p:spPr>
          <a:xfrm>
            <a:off x="1798320" y="681037"/>
            <a:ext cx="8595360" cy="775597"/>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200" b="1" i="0" u="none" strike="noStrike" cap="none" dirty="0">
                <a:latin typeface="Times"/>
                <a:ea typeface="Times"/>
                <a:cs typeface="Times"/>
                <a:sym typeface="Times"/>
              </a:rPr>
              <a:t>ABSTRACT</a:t>
            </a:r>
          </a:p>
        </p:txBody>
      </p:sp>
      <p:cxnSp>
        <p:nvCxnSpPr>
          <p:cNvPr id="8" name="Straight Connector 7">
            <a:extLst>
              <a:ext uri="{FF2B5EF4-FFF2-40B4-BE49-F238E27FC236}">
                <a16:creationId xmlns:a16="http://schemas.microsoft.com/office/drawing/2014/main" id="{53DEE883-2212-8C61-19A8-33DFFFA8C96B}"/>
              </a:ext>
            </a:extLst>
          </p:cNvPr>
          <p:cNvCxnSpPr>
            <a:cxnSpLocks/>
          </p:cNvCxnSpPr>
          <p:nvPr/>
        </p:nvCxnSpPr>
        <p:spPr>
          <a:xfrm>
            <a:off x="1283110" y="1769806"/>
            <a:ext cx="9788013" cy="0"/>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C3207B-A954-EA9C-3D1E-AC4FAC15190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B66F081-D499-9FEA-ABF7-0953CB65EFF6}"/>
              </a:ext>
            </a:extLst>
          </p:cNvPr>
          <p:cNvSpPr>
            <a:spLocks noGrp="1"/>
          </p:cNvSpPr>
          <p:nvPr>
            <p:ph idx="1"/>
          </p:nvPr>
        </p:nvSpPr>
        <p:spPr>
          <a:xfrm>
            <a:off x="1088922" y="2162228"/>
            <a:ext cx="10156722" cy="4258233"/>
          </a:xfrm>
        </p:spPr>
        <p:txBody>
          <a:bodyPr>
            <a:normAutofit/>
          </a:bodyPr>
          <a:lstStyle/>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Monitoring animal behavior is essential for understanding health, welfare, and ecological impact. However, traditional observation methods are manual, time-consuming, and prone to human error, making it difficult to continuously monitor animals in natural habitats or farm environments. </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There is a need for an automated, accurate, and real-time animal behavior monitoring system that can track movements, detect behavioral changes, and generate reliable insights for research, conservation, and management purposes.</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Animals are tracked using collars that frequently record their locations, enabling researchers to observe both behavior and environmental interactions.</a:t>
            </a:r>
          </a:p>
          <a:p>
            <a:pPr lvl="0" eaLnBrk="0" fontAlgn="base" hangingPunct="0">
              <a:lnSpc>
                <a:spcPct val="150000"/>
              </a:lnSpc>
              <a:spcBef>
                <a:spcPct val="0"/>
              </a:spcBef>
              <a:spcAft>
                <a:spcPct val="0"/>
              </a:spcAft>
              <a:buFont typeface="Wingdings" panose="05000000000000000000" pitchFamily="2" charset="2"/>
              <a:buChar char="Ø"/>
            </a:pPr>
            <a:r>
              <a:rPr lang="en-US" altLang="en-US" sz="1600" dirty="0">
                <a:latin typeface="Times New Roman" panose="02020603050405020304" pitchFamily="18" charset="0"/>
                <a:cs typeface="Times New Roman" panose="02020603050405020304" pitchFamily="18" charset="0"/>
              </a:rPr>
              <a:t>Collars serve as the primary data collection interface, gathering information from sensors. They also monitor the animals' posture, behavior, and location. </a:t>
            </a:r>
          </a:p>
          <a:p>
            <a:pPr algn="just">
              <a:lnSpc>
                <a:spcPct val="150000"/>
              </a:lnSpc>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algn="just">
              <a:lnSpc>
                <a:spcPct val="150000"/>
              </a:lnSpc>
              <a:buFont typeface="Wingdings" panose="05000000000000000000" pitchFamily="2" charset="2"/>
              <a:buChar char="Ø"/>
            </a:pPr>
            <a:endParaRPr lang="en-US" sz="1600" dirty="0">
              <a:latin typeface="Times New Roman" panose="02020603050405020304" pitchFamily="18" charset="0"/>
              <a:cs typeface="Times New Roman" panose="02020603050405020304" pitchFamily="18" charset="0"/>
            </a:endParaRPr>
          </a:p>
          <a:p>
            <a:pPr marL="0" indent="0" algn="just">
              <a:buNone/>
            </a:pPr>
            <a:endParaRPr lang="en-US" sz="1600" dirty="0">
              <a:solidFill>
                <a:srgbClr val="000000"/>
              </a:solidFill>
              <a:latin typeface="Times New Roman"/>
            </a:endParaRPr>
          </a:p>
        </p:txBody>
      </p:sp>
      <p:sp>
        <p:nvSpPr>
          <p:cNvPr id="6" name="Google Shape;166;p2">
            <a:extLst>
              <a:ext uri="{FF2B5EF4-FFF2-40B4-BE49-F238E27FC236}">
                <a16:creationId xmlns:a16="http://schemas.microsoft.com/office/drawing/2014/main" id="{3C5D85AE-38B3-AC8F-7184-1EF841CE3A7C}"/>
              </a:ext>
            </a:extLst>
          </p:cNvPr>
          <p:cNvSpPr txBox="1"/>
          <p:nvPr/>
        </p:nvSpPr>
        <p:spPr>
          <a:xfrm>
            <a:off x="1798320" y="681037"/>
            <a:ext cx="8595360" cy="775597"/>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200" b="1" dirty="0">
                <a:latin typeface="Times"/>
                <a:ea typeface="Times"/>
                <a:cs typeface="Times"/>
                <a:sym typeface="Times"/>
              </a:rPr>
              <a:t>PROBLEM STATEMENT</a:t>
            </a:r>
            <a:endParaRPr lang="en-US" sz="4200" b="1" i="0" u="none" strike="noStrike" cap="none" dirty="0">
              <a:latin typeface="Times"/>
              <a:ea typeface="Times"/>
              <a:cs typeface="Times"/>
              <a:sym typeface="Times"/>
            </a:endParaRPr>
          </a:p>
        </p:txBody>
      </p:sp>
      <p:cxnSp>
        <p:nvCxnSpPr>
          <p:cNvPr id="8" name="Straight Connector 7">
            <a:extLst>
              <a:ext uri="{FF2B5EF4-FFF2-40B4-BE49-F238E27FC236}">
                <a16:creationId xmlns:a16="http://schemas.microsoft.com/office/drawing/2014/main" id="{812680A7-3B0A-95C3-510D-AA78A38074EE}"/>
              </a:ext>
            </a:extLst>
          </p:cNvPr>
          <p:cNvCxnSpPr>
            <a:cxnSpLocks/>
          </p:cNvCxnSpPr>
          <p:nvPr/>
        </p:nvCxnSpPr>
        <p:spPr>
          <a:xfrm>
            <a:off x="1283110" y="1769806"/>
            <a:ext cx="978801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419390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D419AB-1A6C-82B8-BFA2-4C1748E6A23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CDE159-5800-5EB0-1902-9E1EAA061BA7}"/>
              </a:ext>
            </a:extLst>
          </p:cNvPr>
          <p:cNvSpPr>
            <a:spLocks noGrp="1"/>
          </p:cNvSpPr>
          <p:nvPr>
            <p:ph idx="1"/>
          </p:nvPr>
        </p:nvSpPr>
        <p:spPr>
          <a:xfrm>
            <a:off x="1098755" y="2486693"/>
            <a:ext cx="10156722" cy="3926244"/>
          </a:xfrm>
        </p:spPr>
        <p:txBody>
          <a:bodyPr>
            <a:normAutofit/>
          </a:bodyPr>
          <a:lstStyle/>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Animal behavior monitoring has been practiced for many years across different fields. In the early stages, the field was dominated by biologists and zoologists, who relied on manual observation and note-taking to study wildlife behavior.</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 Later, wildlife organizations and conservationists adopted technologies such as camera traps, GPS collars, and radio tracking to monitor endangered animals in forests and sanctuaries. </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At present, animal behavior monitoring is being practiced in multiple domains. In wildlife studies, researchers depend on camera traps, drones, and GPS collars to record the movements and activities of animals in their natural habitats. </a:t>
            </a:r>
          </a:p>
        </p:txBody>
      </p:sp>
      <p:sp>
        <p:nvSpPr>
          <p:cNvPr id="6" name="Google Shape;166;p2">
            <a:extLst>
              <a:ext uri="{FF2B5EF4-FFF2-40B4-BE49-F238E27FC236}">
                <a16:creationId xmlns:a16="http://schemas.microsoft.com/office/drawing/2014/main" id="{0A126201-FB2E-83D4-7766-2312EC1C8E91}"/>
              </a:ext>
            </a:extLst>
          </p:cNvPr>
          <p:cNvSpPr txBox="1"/>
          <p:nvPr/>
        </p:nvSpPr>
        <p:spPr>
          <a:xfrm>
            <a:off x="1729494" y="681037"/>
            <a:ext cx="8595360" cy="775597"/>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200" b="1" dirty="0">
                <a:latin typeface="Times"/>
                <a:ea typeface="Times"/>
                <a:cs typeface="Times"/>
                <a:sym typeface="Times"/>
              </a:rPr>
              <a:t>EXISTING SYSTEM</a:t>
            </a:r>
            <a:endParaRPr lang="en-US" sz="4200" b="1" i="0" u="none" strike="noStrike" cap="none" dirty="0">
              <a:latin typeface="Times"/>
              <a:ea typeface="Times"/>
              <a:cs typeface="Times"/>
              <a:sym typeface="Times"/>
            </a:endParaRPr>
          </a:p>
        </p:txBody>
      </p:sp>
      <p:cxnSp>
        <p:nvCxnSpPr>
          <p:cNvPr id="8" name="Straight Connector 7">
            <a:extLst>
              <a:ext uri="{FF2B5EF4-FFF2-40B4-BE49-F238E27FC236}">
                <a16:creationId xmlns:a16="http://schemas.microsoft.com/office/drawing/2014/main" id="{26413CEC-FB33-A4C9-6ABC-380F01737D28}"/>
              </a:ext>
            </a:extLst>
          </p:cNvPr>
          <p:cNvCxnSpPr>
            <a:cxnSpLocks/>
          </p:cNvCxnSpPr>
          <p:nvPr/>
        </p:nvCxnSpPr>
        <p:spPr>
          <a:xfrm>
            <a:off x="1283110" y="1769806"/>
            <a:ext cx="978801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01187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21D535-6F3A-189C-3FB9-84B72AB665A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DD2821-30FD-C020-35B4-D6F0865B6189}"/>
              </a:ext>
            </a:extLst>
          </p:cNvPr>
          <p:cNvSpPr>
            <a:spLocks noGrp="1"/>
          </p:cNvSpPr>
          <p:nvPr>
            <p:ph idx="1"/>
          </p:nvPr>
        </p:nvSpPr>
        <p:spPr>
          <a:xfrm>
            <a:off x="1098755" y="2250719"/>
            <a:ext cx="10156722" cy="3926244"/>
          </a:xfrm>
        </p:spPr>
        <p:txBody>
          <a:bodyPr>
            <a:normAutofit/>
          </a:bodyPr>
          <a:lstStyle/>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Instead of relying only on manual observation or simple tracking devices, the system integrates IoT sensors to continuously monitor animals with minimal human effort.</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Data collected from sensors (e.g., temperature, motion, GPS) is transmitted through IoT networks to a centralized platform, where it is analyzed in real-time. The system can generate alerts in case of unusual behavior, diseases, or movement anomalies, ensuring quick response for both wildlife conservation and livestock management.</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It can be applied in multiple domains such as wildlife monitoring, smart farming, ecological research, and animal welfare management. Overall, this system ensures continuous, reliable, and intelligent monitoring that supports decision-making, improves animal health and welfare, and contributes to biodiversity conservation.</a:t>
            </a:r>
            <a:endParaRPr lang="en-US" sz="1600" dirty="0">
              <a:solidFill>
                <a:srgbClr val="000000"/>
              </a:solidFill>
              <a:latin typeface="Times New Roman" panose="02020603050405020304" pitchFamily="18" charset="0"/>
              <a:cs typeface="Times New Roman" panose="02020603050405020304" pitchFamily="18" charset="0"/>
            </a:endParaRPr>
          </a:p>
        </p:txBody>
      </p:sp>
      <p:sp>
        <p:nvSpPr>
          <p:cNvPr id="6" name="Google Shape;166;p2">
            <a:extLst>
              <a:ext uri="{FF2B5EF4-FFF2-40B4-BE49-F238E27FC236}">
                <a16:creationId xmlns:a16="http://schemas.microsoft.com/office/drawing/2014/main" id="{3DF719C2-1E74-A986-358D-46105DA37980}"/>
              </a:ext>
            </a:extLst>
          </p:cNvPr>
          <p:cNvSpPr txBox="1"/>
          <p:nvPr/>
        </p:nvSpPr>
        <p:spPr>
          <a:xfrm>
            <a:off x="1729494" y="681037"/>
            <a:ext cx="8595360" cy="775597"/>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200" b="1" dirty="0">
                <a:latin typeface="Times"/>
                <a:ea typeface="Times"/>
                <a:cs typeface="Times"/>
                <a:sym typeface="Times"/>
              </a:rPr>
              <a:t>PROPOSED SYSTEM</a:t>
            </a:r>
            <a:endParaRPr lang="en-US" sz="4200" b="1" i="0" u="none" strike="noStrike" cap="none" dirty="0">
              <a:latin typeface="Times"/>
              <a:ea typeface="Times"/>
              <a:cs typeface="Times"/>
              <a:sym typeface="Times"/>
            </a:endParaRPr>
          </a:p>
        </p:txBody>
      </p:sp>
      <p:cxnSp>
        <p:nvCxnSpPr>
          <p:cNvPr id="8" name="Straight Connector 7">
            <a:extLst>
              <a:ext uri="{FF2B5EF4-FFF2-40B4-BE49-F238E27FC236}">
                <a16:creationId xmlns:a16="http://schemas.microsoft.com/office/drawing/2014/main" id="{D65829E8-508B-0056-81AD-B9BC704DB739}"/>
              </a:ext>
            </a:extLst>
          </p:cNvPr>
          <p:cNvCxnSpPr>
            <a:cxnSpLocks/>
          </p:cNvCxnSpPr>
          <p:nvPr/>
        </p:nvCxnSpPr>
        <p:spPr>
          <a:xfrm>
            <a:off x="1283110" y="1769806"/>
            <a:ext cx="978801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77699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158E6-7A76-ACB3-DE3A-99716A73C171}"/>
            </a:ext>
          </a:extLst>
        </p:cNvPr>
        <p:cNvGrpSpPr/>
        <p:nvPr/>
      </p:nvGrpSpPr>
      <p:grpSpPr>
        <a:xfrm>
          <a:off x="0" y="0"/>
          <a:ext cx="0" cy="0"/>
          <a:chOff x="0" y="0"/>
          <a:chExt cx="0" cy="0"/>
        </a:xfrm>
      </p:grpSpPr>
      <p:sp>
        <p:nvSpPr>
          <p:cNvPr id="6" name="Google Shape;166;p2">
            <a:extLst>
              <a:ext uri="{FF2B5EF4-FFF2-40B4-BE49-F238E27FC236}">
                <a16:creationId xmlns:a16="http://schemas.microsoft.com/office/drawing/2014/main" id="{13F3F952-8F75-BD22-0F2D-8DA06E40DD16}"/>
              </a:ext>
            </a:extLst>
          </p:cNvPr>
          <p:cNvSpPr txBox="1"/>
          <p:nvPr/>
        </p:nvSpPr>
        <p:spPr>
          <a:xfrm>
            <a:off x="1798320" y="681037"/>
            <a:ext cx="8595360" cy="812530"/>
          </a:xfrm>
          <a:prstGeom prst="rect">
            <a:avLst/>
          </a:prstGeom>
          <a:noFill/>
          <a:ln>
            <a:noFill/>
          </a:ln>
        </p:spPr>
        <p:txBody>
          <a:bodyPr spcFirstLastPara="1" wrap="square" lIns="0" tIns="0" rIns="0" bIns="0" anchor="t" anchorCtr="0">
            <a:spAutoFit/>
          </a:bodyPr>
          <a:lstStyle/>
          <a:p>
            <a:pPr lvl="0" algn="ctr">
              <a:lnSpc>
                <a:spcPct val="120000"/>
              </a:lnSpc>
            </a:pPr>
            <a:r>
              <a:rPr lang="en-IN" sz="4400" b="1" dirty="0">
                <a:latin typeface="Times New Roman"/>
              </a:rPr>
              <a:t>HARDWARE COMPONENTS</a:t>
            </a:r>
            <a:endParaRPr lang="en-US" sz="4200" b="1" i="0" u="none" strike="noStrike" cap="none" dirty="0">
              <a:latin typeface="Times"/>
              <a:ea typeface="Times"/>
              <a:cs typeface="Times"/>
              <a:sym typeface="Times"/>
            </a:endParaRPr>
          </a:p>
        </p:txBody>
      </p:sp>
      <p:cxnSp>
        <p:nvCxnSpPr>
          <p:cNvPr id="8" name="Straight Connector 7">
            <a:extLst>
              <a:ext uri="{FF2B5EF4-FFF2-40B4-BE49-F238E27FC236}">
                <a16:creationId xmlns:a16="http://schemas.microsoft.com/office/drawing/2014/main" id="{9F51E78C-3CAE-47AE-6081-C1E34E58562E}"/>
              </a:ext>
            </a:extLst>
          </p:cNvPr>
          <p:cNvCxnSpPr>
            <a:cxnSpLocks/>
          </p:cNvCxnSpPr>
          <p:nvPr/>
        </p:nvCxnSpPr>
        <p:spPr>
          <a:xfrm>
            <a:off x="1283110" y="1769806"/>
            <a:ext cx="978801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DDF07865-A674-F037-2F32-948654BEFED9}"/>
              </a:ext>
            </a:extLst>
          </p:cNvPr>
          <p:cNvSpPr>
            <a:spLocks noGrp="1"/>
          </p:cNvSpPr>
          <p:nvPr>
            <p:ph idx="1"/>
          </p:nvPr>
        </p:nvSpPr>
        <p:spPr>
          <a:xfrm>
            <a:off x="1145458" y="2370510"/>
            <a:ext cx="10515600" cy="4351338"/>
          </a:xfrm>
        </p:spPr>
        <p:txBody>
          <a:bodyPr>
            <a:normAutofit/>
          </a:bodyPr>
          <a:lstStyle/>
          <a:p>
            <a:pPr algn="l">
              <a:lnSpc>
                <a:spcPct val="150000"/>
              </a:lnSpc>
              <a:buFont typeface="Wingdings" panose="05000000000000000000" pitchFamily="2" charset="2"/>
              <a:buChar char="Ø"/>
            </a:pPr>
            <a:r>
              <a:rPr sz="1600" dirty="0">
                <a:solidFill>
                  <a:srgbClr val="000000"/>
                </a:solidFill>
                <a:latin typeface="Times New Roman"/>
              </a:rPr>
              <a:t>ESP32-CAM (main MCU, Wi‑Fi, camera)</a:t>
            </a:r>
          </a:p>
          <a:p>
            <a:pPr algn="l">
              <a:lnSpc>
                <a:spcPct val="150000"/>
              </a:lnSpc>
              <a:buFont typeface="Wingdings" panose="05000000000000000000" pitchFamily="2" charset="2"/>
              <a:buChar char="Ø"/>
            </a:pPr>
            <a:r>
              <a:rPr sz="1600" dirty="0">
                <a:solidFill>
                  <a:srgbClr val="000000"/>
                </a:solidFill>
                <a:latin typeface="Times New Roman"/>
              </a:rPr>
              <a:t>Mic (MAX4466/INMP441) – sound RMS for distress/noise</a:t>
            </a:r>
          </a:p>
          <a:p>
            <a:pPr algn="l">
              <a:lnSpc>
                <a:spcPct val="150000"/>
              </a:lnSpc>
              <a:buFont typeface="Wingdings" panose="05000000000000000000" pitchFamily="2" charset="2"/>
              <a:buChar char="Ø"/>
            </a:pPr>
            <a:r>
              <a:rPr sz="1600" dirty="0">
                <a:solidFill>
                  <a:srgbClr val="000000"/>
                </a:solidFill>
                <a:latin typeface="Times New Roman"/>
              </a:rPr>
              <a:t>PIR (HC-SR501) – motion detection</a:t>
            </a:r>
          </a:p>
          <a:p>
            <a:pPr algn="l">
              <a:lnSpc>
                <a:spcPct val="150000"/>
              </a:lnSpc>
              <a:buFont typeface="Wingdings" panose="05000000000000000000" pitchFamily="2" charset="2"/>
              <a:buChar char="Ø"/>
            </a:pPr>
            <a:r>
              <a:rPr sz="1600" dirty="0">
                <a:solidFill>
                  <a:srgbClr val="000000"/>
                </a:solidFill>
                <a:latin typeface="Times New Roman"/>
              </a:rPr>
              <a:t>DHT11/DHT22 – temperature/humidity</a:t>
            </a:r>
          </a:p>
          <a:p>
            <a:pPr algn="l">
              <a:lnSpc>
                <a:spcPct val="150000"/>
              </a:lnSpc>
              <a:buFont typeface="Wingdings" panose="05000000000000000000" pitchFamily="2" charset="2"/>
              <a:buChar char="Ø"/>
            </a:pPr>
            <a:r>
              <a:rPr sz="1600" dirty="0">
                <a:solidFill>
                  <a:srgbClr val="000000"/>
                </a:solidFill>
                <a:latin typeface="Times New Roman"/>
              </a:rPr>
              <a:t>Power: 5V/2A with stable regulator</a:t>
            </a:r>
          </a:p>
        </p:txBody>
      </p:sp>
    </p:spTree>
    <p:extLst>
      <p:ext uri="{BB962C8B-B14F-4D97-AF65-F5344CB8AC3E}">
        <p14:creationId xmlns:p14="http://schemas.microsoft.com/office/powerpoint/2010/main" val="21561797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F6DE37-BC8A-940D-D08E-77A2D1826B08}"/>
            </a:ext>
          </a:extLst>
        </p:cNvPr>
        <p:cNvGrpSpPr/>
        <p:nvPr/>
      </p:nvGrpSpPr>
      <p:grpSpPr>
        <a:xfrm>
          <a:off x="0" y="0"/>
          <a:ext cx="0" cy="0"/>
          <a:chOff x="0" y="0"/>
          <a:chExt cx="0" cy="0"/>
        </a:xfrm>
      </p:grpSpPr>
      <p:sp>
        <p:nvSpPr>
          <p:cNvPr id="6" name="Google Shape;166;p2">
            <a:extLst>
              <a:ext uri="{FF2B5EF4-FFF2-40B4-BE49-F238E27FC236}">
                <a16:creationId xmlns:a16="http://schemas.microsoft.com/office/drawing/2014/main" id="{ADBB1C24-F3F3-3F09-A1A8-954831FDC731}"/>
              </a:ext>
            </a:extLst>
          </p:cNvPr>
          <p:cNvSpPr txBox="1"/>
          <p:nvPr/>
        </p:nvSpPr>
        <p:spPr>
          <a:xfrm>
            <a:off x="1798320" y="681037"/>
            <a:ext cx="8595360" cy="812530"/>
          </a:xfrm>
          <a:prstGeom prst="rect">
            <a:avLst/>
          </a:prstGeom>
          <a:noFill/>
          <a:ln>
            <a:noFill/>
          </a:ln>
        </p:spPr>
        <p:txBody>
          <a:bodyPr spcFirstLastPara="1" wrap="square" lIns="0" tIns="0" rIns="0" bIns="0" anchor="t" anchorCtr="0">
            <a:spAutoFit/>
          </a:bodyPr>
          <a:lstStyle/>
          <a:p>
            <a:pPr lvl="0" algn="ctr">
              <a:lnSpc>
                <a:spcPct val="120000"/>
              </a:lnSpc>
            </a:pPr>
            <a:r>
              <a:rPr lang="en-IN" sz="4400" b="1" dirty="0">
                <a:latin typeface="Times New Roman"/>
              </a:rPr>
              <a:t>SOFTWARE COMPONENTS</a:t>
            </a:r>
            <a:endParaRPr lang="en-US" sz="4200" b="1" i="0" u="none" strike="noStrike" cap="none" dirty="0">
              <a:latin typeface="Times"/>
              <a:ea typeface="Times"/>
              <a:cs typeface="Times"/>
              <a:sym typeface="Times"/>
            </a:endParaRPr>
          </a:p>
        </p:txBody>
      </p:sp>
      <p:cxnSp>
        <p:nvCxnSpPr>
          <p:cNvPr id="8" name="Straight Connector 7">
            <a:extLst>
              <a:ext uri="{FF2B5EF4-FFF2-40B4-BE49-F238E27FC236}">
                <a16:creationId xmlns:a16="http://schemas.microsoft.com/office/drawing/2014/main" id="{EA8D5A6A-2999-1BF9-19FB-DE56E533A10E}"/>
              </a:ext>
            </a:extLst>
          </p:cNvPr>
          <p:cNvCxnSpPr>
            <a:cxnSpLocks/>
          </p:cNvCxnSpPr>
          <p:nvPr/>
        </p:nvCxnSpPr>
        <p:spPr>
          <a:xfrm>
            <a:off x="1283110" y="1769806"/>
            <a:ext cx="978801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Content Placeholder 2">
            <a:extLst>
              <a:ext uri="{FF2B5EF4-FFF2-40B4-BE49-F238E27FC236}">
                <a16:creationId xmlns:a16="http://schemas.microsoft.com/office/drawing/2014/main" id="{0458127F-882E-9AA7-83E7-2336C2A31626}"/>
              </a:ext>
            </a:extLst>
          </p:cNvPr>
          <p:cNvSpPr>
            <a:spLocks noGrp="1"/>
          </p:cNvSpPr>
          <p:nvPr>
            <p:ph idx="1"/>
          </p:nvPr>
        </p:nvSpPr>
        <p:spPr>
          <a:xfrm>
            <a:off x="1172496" y="2506662"/>
            <a:ext cx="10515600" cy="4351338"/>
          </a:xfrm>
        </p:spPr>
        <p:txBody>
          <a:bodyPr>
            <a:normAutofit/>
          </a:bodyPr>
          <a:lstStyle/>
          <a:p>
            <a:pPr algn="just">
              <a:lnSpc>
                <a:spcPct val="150000"/>
              </a:lnSpc>
              <a:buFont typeface="Wingdings" panose="05000000000000000000" pitchFamily="2" charset="2"/>
              <a:buChar char="Ø"/>
            </a:pPr>
            <a:r>
              <a:rPr sz="1600" dirty="0">
                <a:solidFill>
                  <a:srgbClr val="000000"/>
                </a:solidFill>
                <a:latin typeface="Times New Roman"/>
              </a:rPr>
              <a:t>ESP32 firmware: HTTP POST JSON, basic filtering/debounce</a:t>
            </a:r>
          </a:p>
          <a:p>
            <a:pPr algn="just">
              <a:lnSpc>
                <a:spcPct val="150000"/>
              </a:lnSpc>
              <a:buFont typeface="Wingdings" panose="05000000000000000000" pitchFamily="2" charset="2"/>
              <a:buChar char="Ø"/>
            </a:pPr>
            <a:r>
              <a:rPr sz="1600" dirty="0">
                <a:solidFill>
                  <a:srgbClr val="000000"/>
                </a:solidFill>
                <a:latin typeface="Times New Roman"/>
              </a:rPr>
              <a:t>PHP APIs on XAMPP: insert/get/history endpoints</a:t>
            </a:r>
          </a:p>
          <a:p>
            <a:pPr algn="just">
              <a:lnSpc>
                <a:spcPct val="150000"/>
              </a:lnSpc>
              <a:buFont typeface="Wingdings" panose="05000000000000000000" pitchFamily="2" charset="2"/>
              <a:buChar char="Ø"/>
            </a:pPr>
            <a:r>
              <a:rPr sz="1600" dirty="0">
                <a:solidFill>
                  <a:srgbClr val="000000"/>
                </a:solidFill>
                <a:latin typeface="Times New Roman"/>
              </a:rPr>
              <a:t>MySQL schema: readings(</a:t>
            </a:r>
            <a:r>
              <a:rPr sz="1600" dirty="0" err="1">
                <a:solidFill>
                  <a:srgbClr val="000000"/>
                </a:solidFill>
                <a:latin typeface="Times New Roman"/>
              </a:rPr>
              <a:t>ts,temp,pir,sound_rms,image_url</a:t>
            </a:r>
            <a:r>
              <a:rPr sz="1600" dirty="0">
                <a:solidFill>
                  <a:srgbClr val="000000"/>
                </a:solidFill>
                <a:latin typeface="Times New Roman"/>
              </a:rPr>
              <a:t>)</a:t>
            </a:r>
          </a:p>
          <a:p>
            <a:pPr algn="just">
              <a:lnSpc>
                <a:spcPct val="150000"/>
              </a:lnSpc>
              <a:buFont typeface="Wingdings" panose="05000000000000000000" pitchFamily="2" charset="2"/>
              <a:buChar char="Ø"/>
            </a:pPr>
            <a:r>
              <a:rPr sz="1600" dirty="0">
                <a:solidFill>
                  <a:srgbClr val="000000"/>
                </a:solidFill>
                <a:latin typeface="Times New Roman"/>
              </a:rPr>
              <a:t>Android app: Retrofit, charts, camera stream view</a:t>
            </a:r>
          </a:p>
        </p:txBody>
      </p:sp>
    </p:spTree>
    <p:extLst>
      <p:ext uri="{BB962C8B-B14F-4D97-AF65-F5344CB8AC3E}">
        <p14:creationId xmlns:p14="http://schemas.microsoft.com/office/powerpoint/2010/main" val="5074749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439A0-B2F8-3E3B-615F-0C3A489AFA4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E264C77-5501-FE15-FEB0-59A98933E674}"/>
              </a:ext>
            </a:extLst>
          </p:cNvPr>
          <p:cNvSpPr>
            <a:spLocks noGrp="1"/>
          </p:cNvSpPr>
          <p:nvPr>
            <p:ph idx="1"/>
          </p:nvPr>
        </p:nvSpPr>
        <p:spPr>
          <a:xfrm>
            <a:off x="1098755" y="2250719"/>
            <a:ext cx="10156722" cy="3926244"/>
          </a:xfrm>
        </p:spPr>
        <p:txBody>
          <a:bodyPr>
            <a:normAutofit fontScale="92500"/>
          </a:bodyPr>
          <a:lstStyle/>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It enables accurate and continuous data collection, reducing human errors that occur with manual observation. </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With the help of IoT, animals can be monitored in real time, allowing early detection of unusual behavior, stress, or diseases, which directly improves their health and welfare. </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In wildlife, such systems support conservation efforts by tracking migration, habitat use, and protecting endangered species. </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It reduces human effort, making monitoring less labor-intensive while still generating reliable results. </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Additionally, monitoring systems can play a vital role in preventing human–animal conflicts by predicting animal movements near populated areas. </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Overall, animal behavior monitoring provides better decision-making support, ensures sustainability, and creates valuable datasets for future research and technological development.</a:t>
            </a:r>
          </a:p>
          <a:p>
            <a:pPr marL="0" indent="0" algn="just">
              <a:buNone/>
            </a:pPr>
            <a:endParaRPr lang="en-US" sz="1600" dirty="0">
              <a:solidFill>
                <a:srgbClr val="000000"/>
              </a:solidFill>
              <a:latin typeface="Times New Roman"/>
            </a:endParaRPr>
          </a:p>
        </p:txBody>
      </p:sp>
      <p:sp>
        <p:nvSpPr>
          <p:cNvPr id="6" name="Google Shape;166;p2">
            <a:extLst>
              <a:ext uri="{FF2B5EF4-FFF2-40B4-BE49-F238E27FC236}">
                <a16:creationId xmlns:a16="http://schemas.microsoft.com/office/drawing/2014/main" id="{850BE175-3C53-2545-E80E-EC7F7D865796}"/>
              </a:ext>
            </a:extLst>
          </p:cNvPr>
          <p:cNvSpPr txBox="1"/>
          <p:nvPr/>
        </p:nvSpPr>
        <p:spPr>
          <a:xfrm>
            <a:off x="1729494" y="681037"/>
            <a:ext cx="8595360" cy="775597"/>
          </a:xfrm>
          <a:prstGeom prst="rect">
            <a:avLst/>
          </a:prstGeom>
          <a:noFill/>
          <a:ln>
            <a:noFill/>
          </a:ln>
        </p:spPr>
        <p:txBody>
          <a:bodyPr spcFirstLastPara="1" wrap="square" lIns="0" tIns="0" rIns="0" bIns="0" anchor="t" anchorCtr="0">
            <a:spAutoFit/>
          </a:bodyPr>
          <a:lstStyle/>
          <a:p>
            <a:pPr marL="0" marR="0" lvl="0" indent="0" algn="ctr" rtl="0">
              <a:lnSpc>
                <a:spcPct val="120000"/>
              </a:lnSpc>
              <a:spcBef>
                <a:spcPts val="0"/>
              </a:spcBef>
              <a:spcAft>
                <a:spcPts val="0"/>
              </a:spcAft>
              <a:buNone/>
            </a:pPr>
            <a:r>
              <a:rPr lang="en-US" sz="4200" b="1" i="0" u="none" strike="noStrike" cap="none" dirty="0">
                <a:latin typeface="Times"/>
                <a:ea typeface="Times"/>
                <a:cs typeface="Times"/>
                <a:sym typeface="Times"/>
              </a:rPr>
              <a:t>ADVANTAGES</a:t>
            </a:r>
          </a:p>
        </p:txBody>
      </p:sp>
      <p:cxnSp>
        <p:nvCxnSpPr>
          <p:cNvPr id="8" name="Straight Connector 7">
            <a:extLst>
              <a:ext uri="{FF2B5EF4-FFF2-40B4-BE49-F238E27FC236}">
                <a16:creationId xmlns:a16="http://schemas.microsoft.com/office/drawing/2014/main" id="{DFB48EDF-255F-6E34-79D7-02713A6732A3}"/>
              </a:ext>
            </a:extLst>
          </p:cNvPr>
          <p:cNvCxnSpPr>
            <a:cxnSpLocks/>
          </p:cNvCxnSpPr>
          <p:nvPr/>
        </p:nvCxnSpPr>
        <p:spPr>
          <a:xfrm>
            <a:off x="1283110" y="1769806"/>
            <a:ext cx="9788013"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31846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E9BB48-0672-CC47-67F0-E8B4B67A5A45}"/>
            </a:ext>
          </a:extLst>
        </p:cNvPr>
        <p:cNvGrpSpPr/>
        <p:nvPr/>
      </p:nvGrpSpPr>
      <p:grpSpPr>
        <a:xfrm>
          <a:off x="0" y="0"/>
          <a:ext cx="0" cy="0"/>
          <a:chOff x="0" y="0"/>
          <a:chExt cx="0" cy="0"/>
        </a:xfrm>
      </p:grpSpPr>
      <p:sp>
        <p:nvSpPr>
          <p:cNvPr id="6" name="Google Shape;166;p2">
            <a:extLst>
              <a:ext uri="{FF2B5EF4-FFF2-40B4-BE49-F238E27FC236}">
                <a16:creationId xmlns:a16="http://schemas.microsoft.com/office/drawing/2014/main" id="{E8DF1767-71F5-5E68-875E-7C76E6F58CD9}"/>
              </a:ext>
            </a:extLst>
          </p:cNvPr>
          <p:cNvSpPr txBox="1"/>
          <p:nvPr/>
        </p:nvSpPr>
        <p:spPr>
          <a:xfrm>
            <a:off x="1729494" y="681037"/>
            <a:ext cx="8595360" cy="812530"/>
          </a:xfrm>
          <a:prstGeom prst="rect">
            <a:avLst/>
          </a:prstGeom>
          <a:noFill/>
          <a:ln>
            <a:noFill/>
          </a:ln>
        </p:spPr>
        <p:txBody>
          <a:bodyPr spcFirstLastPara="1" wrap="square" lIns="0" tIns="0" rIns="0" bIns="0" anchor="t" anchorCtr="0">
            <a:spAutoFit/>
          </a:bodyPr>
          <a:lstStyle/>
          <a:p>
            <a:pPr algn="ctr">
              <a:lnSpc>
                <a:spcPct val="120000"/>
              </a:lnSpc>
            </a:pPr>
            <a:r>
              <a:rPr lang="en-IN" sz="4400" b="1" dirty="0">
                <a:latin typeface="Times New Roman"/>
              </a:rPr>
              <a:t>SYSTEM ARCHITECTURE</a:t>
            </a:r>
          </a:p>
        </p:txBody>
      </p:sp>
      <p:cxnSp>
        <p:nvCxnSpPr>
          <p:cNvPr id="8" name="Straight Connector 7">
            <a:extLst>
              <a:ext uri="{FF2B5EF4-FFF2-40B4-BE49-F238E27FC236}">
                <a16:creationId xmlns:a16="http://schemas.microsoft.com/office/drawing/2014/main" id="{B7721821-93FE-62FA-6E89-135F059680F8}"/>
              </a:ext>
            </a:extLst>
          </p:cNvPr>
          <p:cNvCxnSpPr>
            <a:cxnSpLocks/>
          </p:cNvCxnSpPr>
          <p:nvPr/>
        </p:nvCxnSpPr>
        <p:spPr>
          <a:xfrm>
            <a:off x="1283110" y="1769806"/>
            <a:ext cx="9788013" cy="0"/>
          </a:xfrm>
          <a:prstGeom prst="line">
            <a:avLst/>
          </a:prstGeom>
        </p:spPr>
        <p:style>
          <a:lnRef idx="1">
            <a:schemeClr val="accent1"/>
          </a:lnRef>
          <a:fillRef idx="0">
            <a:schemeClr val="accent1"/>
          </a:fillRef>
          <a:effectRef idx="0">
            <a:schemeClr val="accent1"/>
          </a:effectRef>
          <a:fontRef idx="minor">
            <a:schemeClr val="tx1"/>
          </a:fontRef>
        </p:style>
      </p:cxnSp>
      <p:sp>
        <p:nvSpPr>
          <p:cNvPr id="5" name="Rounded Rectangle 2">
            <a:extLst>
              <a:ext uri="{FF2B5EF4-FFF2-40B4-BE49-F238E27FC236}">
                <a16:creationId xmlns:a16="http://schemas.microsoft.com/office/drawing/2014/main" id="{DB98DBC6-B198-4249-961F-4383387DFEB8}"/>
              </a:ext>
            </a:extLst>
          </p:cNvPr>
          <p:cNvSpPr/>
          <p:nvPr/>
        </p:nvSpPr>
        <p:spPr>
          <a:xfrm>
            <a:off x="1363734" y="3350834"/>
            <a:ext cx="2560320" cy="1005840"/>
          </a:xfrm>
          <a:prstGeom prst="roundRect">
            <a:avLst/>
          </a:prstGeom>
          <a:solidFill>
            <a:srgbClr val="E6F5FF"/>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sz="1600" b="0">
                <a:solidFill>
                  <a:srgbClr val="000000"/>
                </a:solidFill>
                <a:latin typeface="Times New Roman"/>
              </a:rPr>
              <a:t>ESP32-CAM</a:t>
            </a:r>
          </a:p>
          <a:p>
            <a:pPr algn="ctr"/>
            <a:r>
              <a:rPr sz="1600" b="0">
                <a:solidFill>
                  <a:srgbClr val="000000"/>
                </a:solidFill>
                <a:latin typeface="Times New Roman"/>
              </a:rPr>
              <a:t>Mic • PIR • DHT • GPS</a:t>
            </a:r>
          </a:p>
        </p:txBody>
      </p:sp>
      <p:sp>
        <p:nvSpPr>
          <p:cNvPr id="7" name="Right Arrow 3">
            <a:extLst>
              <a:ext uri="{FF2B5EF4-FFF2-40B4-BE49-F238E27FC236}">
                <a16:creationId xmlns:a16="http://schemas.microsoft.com/office/drawing/2014/main" id="{279F7863-33EB-0602-72ED-67A9F9D001BE}"/>
              </a:ext>
            </a:extLst>
          </p:cNvPr>
          <p:cNvSpPr/>
          <p:nvPr/>
        </p:nvSpPr>
        <p:spPr>
          <a:xfrm>
            <a:off x="4106934" y="3579434"/>
            <a:ext cx="1097280" cy="548640"/>
          </a:xfrm>
          <a:prstGeom prst="rightArrow">
            <a:avLst/>
          </a:prstGeom>
          <a:solidFill>
            <a:srgbClr val="14468C"/>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Cloud 8">
            <a:extLst>
              <a:ext uri="{FF2B5EF4-FFF2-40B4-BE49-F238E27FC236}">
                <a16:creationId xmlns:a16="http://schemas.microsoft.com/office/drawing/2014/main" id="{1AA7E41D-A3F0-86C1-D890-B6040BB2CB98}"/>
              </a:ext>
            </a:extLst>
          </p:cNvPr>
          <p:cNvSpPr/>
          <p:nvPr/>
        </p:nvSpPr>
        <p:spPr>
          <a:xfrm>
            <a:off x="5478534" y="3259394"/>
            <a:ext cx="2194560" cy="1188720"/>
          </a:xfrm>
          <a:prstGeom prst="cloud">
            <a:avLst/>
          </a:prstGeom>
          <a:solidFill>
            <a:srgbClr val="EBFFEB"/>
          </a:solidFill>
        </p:spPr>
        <p:style>
          <a:lnRef idx="1">
            <a:schemeClr val="accent1"/>
          </a:lnRef>
          <a:fillRef idx="3">
            <a:schemeClr val="accent1"/>
          </a:fillRef>
          <a:effectRef idx="2">
            <a:schemeClr val="accent1"/>
          </a:effectRef>
          <a:fontRef idx="minor">
            <a:schemeClr val="lt1"/>
          </a:fontRef>
        </p:style>
        <p:txBody>
          <a:bodyPr rtlCol="0" anchor="ctr"/>
          <a:lstStyle/>
          <a:p>
            <a:pPr algn="ctr"/>
            <a:r>
              <a:rPr sz="1600" b="0">
                <a:solidFill>
                  <a:srgbClr val="000000"/>
                </a:solidFill>
                <a:latin typeface="Times New Roman"/>
              </a:rPr>
              <a:t>XAMPP / PHP APIs</a:t>
            </a:r>
          </a:p>
          <a:p>
            <a:pPr algn="ctr"/>
            <a:r>
              <a:rPr sz="1600" b="0">
                <a:solidFill>
                  <a:srgbClr val="000000"/>
                </a:solidFill>
                <a:latin typeface="Times New Roman"/>
              </a:rPr>
              <a:t>MySQL DB</a:t>
            </a:r>
          </a:p>
        </p:txBody>
      </p:sp>
      <p:sp>
        <p:nvSpPr>
          <p:cNvPr id="10" name="Right Arrow 5">
            <a:extLst>
              <a:ext uri="{FF2B5EF4-FFF2-40B4-BE49-F238E27FC236}">
                <a16:creationId xmlns:a16="http://schemas.microsoft.com/office/drawing/2014/main" id="{C9080885-8D58-7613-B6E3-7718642D75AF}"/>
              </a:ext>
            </a:extLst>
          </p:cNvPr>
          <p:cNvSpPr/>
          <p:nvPr/>
        </p:nvSpPr>
        <p:spPr>
          <a:xfrm>
            <a:off x="7947414" y="3579434"/>
            <a:ext cx="1097280" cy="548640"/>
          </a:xfrm>
          <a:prstGeom prst="rightArrow">
            <a:avLst/>
          </a:prstGeom>
          <a:solidFill>
            <a:srgbClr val="148C46"/>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6">
            <a:extLst>
              <a:ext uri="{FF2B5EF4-FFF2-40B4-BE49-F238E27FC236}">
                <a16:creationId xmlns:a16="http://schemas.microsoft.com/office/drawing/2014/main" id="{152A3457-D052-08D5-836D-2486FCD28321}"/>
              </a:ext>
            </a:extLst>
          </p:cNvPr>
          <p:cNvSpPr/>
          <p:nvPr/>
        </p:nvSpPr>
        <p:spPr>
          <a:xfrm>
            <a:off x="9227574" y="2985074"/>
            <a:ext cx="1097280" cy="2103120"/>
          </a:xfrm>
          <a:prstGeom prst="roundRect">
            <a:avLst/>
          </a:prstGeom>
          <a:solidFill>
            <a:srgbClr val="F5F5F5"/>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a:extLst>
              <a:ext uri="{FF2B5EF4-FFF2-40B4-BE49-F238E27FC236}">
                <a16:creationId xmlns:a16="http://schemas.microsoft.com/office/drawing/2014/main" id="{0E492C26-327A-0F2D-FAC1-8941547A5116}"/>
              </a:ext>
            </a:extLst>
          </p:cNvPr>
          <p:cNvSpPr/>
          <p:nvPr/>
        </p:nvSpPr>
        <p:spPr>
          <a:xfrm>
            <a:off x="9300726" y="3122234"/>
            <a:ext cx="950976" cy="1737360"/>
          </a:xfrm>
          <a:prstGeom prst="rect">
            <a:avLst/>
          </a:prstGeom>
          <a:solidFill>
            <a:srgbClr val="FFFFFF"/>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81EB9913-7196-F4CA-52F3-7C158A323737}"/>
              </a:ext>
            </a:extLst>
          </p:cNvPr>
          <p:cNvSpPr txBox="1"/>
          <p:nvPr/>
        </p:nvSpPr>
        <p:spPr>
          <a:xfrm>
            <a:off x="9319014" y="3167954"/>
            <a:ext cx="914400" cy="1645920"/>
          </a:xfrm>
          <a:prstGeom prst="rect">
            <a:avLst/>
          </a:prstGeom>
          <a:noFill/>
        </p:spPr>
        <p:txBody>
          <a:bodyPr wrap="none">
            <a:spAutoFit/>
          </a:bodyPr>
          <a:lstStyle/>
          <a:p>
            <a:pPr algn="l"/>
            <a:r>
              <a:rPr sz="1200" b="0">
                <a:solidFill>
                  <a:srgbClr val="000000"/>
                </a:solidFill>
                <a:latin typeface="Times New Roman"/>
              </a:rPr>
              <a:t>Android App</a:t>
            </a:r>
          </a:p>
          <a:p>
            <a:pPr algn="l"/>
            <a:r>
              <a:rPr sz="1200" b="0">
                <a:solidFill>
                  <a:srgbClr val="000000"/>
                </a:solidFill>
                <a:latin typeface="Times New Roman"/>
              </a:rPr>
              <a:t>• Live Cam</a:t>
            </a:r>
          </a:p>
          <a:p>
            <a:pPr algn="l"/>
            <a:r>
              <a:rPr sz="1200" b="0">
                <a:solidFill>
                  <a:srgbClr val="000000"/>
                </a:solidFill>
                <a:latin typeface="Times New Roman"/>
              </a:rPr>
              <a:t>• Charts</a:t>
            </a:r>
          </a:p>
          <a:p>
            <a:pPr algn="l"/>
            <a:r>
              <a:rPr sz="1200" b="0">
                <a:solidFill>
                  <a:srgbClr val="000000"/>
                </a:solidFill>
                <a:latin typeface="Times New Roman"/>
              </a:rPr>
              <a:t>• Alerts</a:t>
            </a:r>
          </a:p>
        </p:txBody>
      </p:sp>
    </p:spTree>
    <p:extLst>
      <p:ext uri="{BB962C8B-B14F-4D97-AF65-F5344CB8AC3E}">
        <p14:creationId xmlns:p14="http://schemas.microsoft.com/office/powerpoint/2010/main" val="25496335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6D3C7-089F-EDBC-0670-762FA9F51245}"/>
            </a:ext>
          </a:extLst>
        </p:cNvPr>
        <p:cNvGrpSpPr/>
        <p:nvPr/>
      </p:nvGrpSpPr>
      <p:grpSpPr>
        <a:xfrm>
          <a:off x="0" y="0"/>
          <a:ext cx="0" cy="0"/>
          <a:chOff x="0" y="0"/>
          <a:chExt cx="0" cy="0"/>
        </a:xfrm>
      </p:grpSpPr>
      <p:sp>
        <p:nvSpPr>
          <p:cNvPr id="6" name="Google Shape;166;p2">
            <a:extLst>
              <a:ext uri="{FF2B5EF4-FFF2-40B4-BE49-F238E27FC236}">
                <a16:creationId xmlns:a16="http://schemas.microsoft.com/office/drawing/2014/main" id="{66EFC94B-4B90-F37C-D60D-154EA1DC3B91}"/>
              </a:ext>
            </a:extLst>
          </p:cNvPr>
          <p:cNvSpPr txBox="1"/>
          <p:nvPr/>
        </p:nvSpPr>
        <p:spPr>
          <a:xfrm>
            <a:off x="1729494" y="681037"/>
            <a:ext cx="8595360" cy="812530"/>
          </a:xfrm>
          <a:prstGeom prst="rect">
            <a:avLst/>
          </a:prstGeom>
          <a:noFill/>
          <a:ln>
            <a:noFill/>
          </a:ln>
        </p:spPr>
        <p:txBody>
          <a:bodyPr spcFirstLastPara="1" wrap="square" lIns="0" tIns="0" rIns="0" bIns="0" anchor="t" anchorCtr="0">
            <a:spAutoFit/>
          </a:bodyPr>
          <a:lstStyle/>
          <a:p>
            <a:pPr algn="ctr">
              <a:lnSpc>
                <a:spcPct val="120000"/>
              </a:lnSpc>
            </a:pPr>
            <a:r>
              <a:rPr lang="en-US" sz="4400" b="1" dirty="0">
                <a:latin typeface="Times New Roman"/>
              </a:rPr>
              <a:t>DATA FLOW DIAGRAM</a:t>
            </a:r>
            <a:endParaRPr lang="en-IN" sz="4400" b="1" dirty="0">
              <a:latin typeface="Times New Roman"/>
            </a:endParaRPr>
          </a:p>
        </p:txBody>
      </p:sp>
      <p:cxnSp>
        <p:nvCxnSpPr>
          <p:cNvPr id="8" name="Straight Connector 7">
            <a:extLst>
              <a:ext uri="{FF2B5EF4-FFF2-40B4-BE49-F238E27FC236}">
                <a16:creationId xmlns:a16="http://schemas.microsoft.com/office/drawing/2014/main" id="{D2038B28-B9AB-B577-E906-4236842FF5A4}"/>
              </a:ext>
            </a:extLst>
          </p:cNvPr>
          <p:cNvCxnSpPr>
            <a:cxnSpLocks/>
          </p:cNvCxnSpPr>
          <p:nvPr/>
        </p:nvCxnSpPr>
        <p:spPr>
          <a:xfrm>
            <a:off x="1283110" y="1769806"/>
            <a:ext cx="9788013" cy="0"/>
          </a:xfrm>
          <a:prstGeom prst="line">
            <a:avLst/>
          </a:prstGeom>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3FA3AB1C-EC9D-791F-F309-C527423A5E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73672" y="2046046"/>
            <a:ext cx="5014921" cy="4577841"/>
          </a:xfrm>
          <a:prstGeom prst="rect">
            <a:avLst/>
          </a:prstGeom>
        </p:spPr>
      </p:pic>
      <p:sp>
        <p:nvSpPr>
          <p:cNvPr id="9" name="Google Shape;166;p2">
            <a:extLst>
              <a:ext uri="{FF2B5EF4-FFF2-40B4-BE49-F238E27FC236}">
                <a16:creationId xmlns:a16="http://schemas.microsoft.com/office/drawing/2014/main" id="{AADF1213-F25D-CDE1-1CDE-7D1F06D32CDF}"/>
              </a:ext>
            </a:extLst>
          </p:cNvPr>
          <p:cNvSpPr txBox="1"/>
          <p:nvPr/>
        </p:nvSpPr>
        <p:spPr>
          <a:xfrm>
            <a:off x="-2568186" y="2173866"/>
            <a:ext cx="8595360" cy="295466"/>
          </a:xfrm>
          <a:prstGeom prst="rect">
            <a:avLst/>
          </a:prstGeom>
          <a:noFill/>
          <a:ln>
            <a:noFill/>
          </a:ln>
        </p:spPr>
        <p:txBody>
          <a:bodyPr spcFirstLastPara="1" wrap="square" lIns="0" tIns="0" rIns="0" bIns="0" anchor="t" anchorCtr="0">
            <a:spAutoFit/>
          </a:bodyPr>
          <a:lstStyle/>
          <a:p>
            <a:pPr algn="ctr">
              <a:lnSpc>
                <a:spcPct val="120000"/>
              </a:lnSpc>
            </a:pPr>
            <a:r>
              <a:rPr lang="en-US" sz="1600" b="1" dirty="0">
                <a:latin typeface="Times New Roman"/>
              </a:rPr>
              <a:t>Level 0</a:t>
            </a:r>
            <a:endParaRPr lang="en-IN" sz="1600" b="1" dirty="0">
              <a:latin typeface="Times New Roman"/>
            </a:endParaRPr>
          </a:p>
        </p:txBody>
      </p:sp>
    </p:spTree>
    <p:extLst>
      <p:ext uri="{BB962C8B-B14F-4D97-AF65-F5344CB8AC3E}">
        <p14:creationId xmlns:p14="http://schemas.microsoft.com/office/powerpoint/2010/main" val="364331087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B69D02-F183-E27D-FEFA-82DCC94AE5CC}"/>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B29B4516-4514-82E2-B66E-1F233C9311C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9494" y="1843744"/>
            <a:ext cx="8475406" cy="5089849"/>
          </a:xfrm>
          <a:prstGeom prst="rect">
            <a:avLst/>
          </a:prstGeom>
        </p:spPr>
      </p:pic>
      <p:sp>
        <p:nvSpPr>
          <p:cNvPr id="6" name="Google Shape;166;p2">
            <a:extLst>
              <a:ext uri="{FF2B5EF4-FFF2-40B4-BE49-F238E27FC236}">
                <a16:creationId xmlns:a16="http://schemas.microsoft.com/office/drawing/2014/main" id="{CA5E7412-0229-F56D-6115-053F82C20AC2}"/>
              </a:ext>
            </a:extLst>
          </p:cNvPr>
          <p:cNvSpPr txBox="1"/>
          <p:nvPr/>
        </p:nvSpPr>
        <p:spPr>
          <a:xfrm>
            <a:off x="1729494" y="681037"/>
            <a:ext cx="8595360" cy="812530"/>
          </a:xfrm>
          <a:prstGeom prst="rect">
            <a:avLst/>
          </a:prstGeom>
          <a:noFill/>
          <a:ln>
            <a:noFill/>
          </a:ln>
        </p:spPr>
        <p:txBody>
          <a:bodyPr spcFirstLastPara="1" wrap="square" lIns="0" tIns="0" rIns="0" bIns="0" anchor="t" anchorCtr="0">
            <a:spAutoFit/>
          </a:bodyPr>
          <a:lstStyle/>
          <a:p>
            <a:pPr algn="ctr">
              <a:lnSpc>
                <a:spcPct val="120000"/>
              </a:lnSpc>
            </a:pPr>
            <a:r>
              <a:rPr lang="en-US" sz="4400" b="1" dirty="0">
                <a:latin typeface="Times New Roman"/>
              </a:rPr>
              <a:t>DATA FLOW DIAGRAM</a:t>
            </a:r>
            <a:endParaRPr lang="en-IN" sz="4400" b="1" dirty="0">
              <a:latin typeface="Times New Roman"/>
            </a:endParaRPr>
          </a:p>
        </p:txBody>
      </p:sp>
      <p:cxnSp>
        <p:nvCxnSpPr>
          <p:cNvPr id="8" name="Straight Connector 7">
            <a:extLst>
              <a:ext uri="{FF2B5EF4-FFF2-40B4-BE49-F238E27FC236}">
                <a16:creationId xmlns:a16="http://schemas.microsoft.com/office/drawing/2014/main" id="{1BB4AE14-7E3C-331D-1F4E-0AD5B179DD91}"/>
              </a:ext>
            </a:extLst>
          </p:cNvPr>
          <p:cNvCxnSpPr>
            <a:cxnSpLocks/>
          </p:cNvCxnSpPr>
          <p:nvPr/>
        </p:nvCxnSpPr>
        <p:spPr>
          <a:xfrm>
            <a:off x="1283110" y="1769806"/>
            <a:ext cx="9788013" cy="0"/>
          </a:xfrm>
          <a:prstGeom prst="line">
            <a:avLst/>
          </a:prstGeom>
        </p:spPr>
        <p:style>
          <a:lnRef idx="1">
            <a:schemeClr val="accent1"/>
          </a:lnRef>
          <a:fillRef idx="0">
            <a:schemeClr val="accent1"/>
          </a:fillRef>
          <a:effectRef idx="0">
            <a:schemeClr val="accent1"/>
          </a:effectRef>
          <a:fontRef idx="minor">
            <a:schemeClr val="tx1"/>
          </a:fontRef>
        </p:style>
      </p:cxnSp>
      <p:sp>
        <p:nvSpPr>
          <p:cNvPr id="9" name="Google Shape;166;p2">
            <a:extLst>
              <a:ext uri="{FF2B5EF4-FFF2-40B4-BE49-F238E27FC236}">
                <a16:creationId xmlns:a16="http://schemas.microsoft.com/office/drawing/2014/main" id="{CFC3AFEF-3EAC-06FD-FBA2-42A6AF4E6FD5}"/>
              </a:ext>
            </a:extLst>
          </p:cNvPr>
          <p:cNvSpPr txBox="1"/>
          <p:nvPr/>
        </p:nvSpPr>
        <p:spPr>
          <a:xfrm>
            <a:off x="-2568186" y="2173866"/>
            <a:ext cx="8595360" cy="295466"/>
          </a:xfrm>
          <a:prstGeom prst="rect">
            <a:avLst/>
          </a:prstGeom>
          <a:noFill/>
          <a:ln>
            <a:noFill/>
          </a:ln>
        </p:spPr>
        <p:txBody>
          <a:bodyPr spcFirstLastPara="1" wrap="square" lIns="0" tIns="0" rIns="0" bIns="0" anchor="t" anchorCtr="0">
            <a:spAutoFit/>
          </a:bodyPr>
          <a:lstStyle/>
          <a:p>
            <a:pPr algn="ctr">
              <a:lnSpc>
                <a:spcPct val="120000"/>
              </a:lnSpc>
            </a:pPr>
            <a:r>
              <a:rPr lang="en-US" sz="1600" b="1" dirty="0">
                <a:latin typeface="Times New Roman"/>
              </a:rPr>
              <a:t>Level 1</a:t>
            </a:r>
            <a:endParaRPr lang="en-IN" sz="1600" b="1" dirty="0">
              <a:latin typeface="Times New Roman"/>
            </a:endParaRPr>
          </a:p>
        </p:txBody>
      </p:sp>
    </p:spTree>
    <p:extLst>
      <p:ext uri="{BB962C8B-B14F-4D97-AF65-F5344CB8AC3E}">
        <p14:creationId xmlns:p14="http://schemas.microsoft.com/office/powerpoint/2010/main" val="35538548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D0663A-0948-F2DC-6ECF-48F70F3C98EF}"/>
            </a:ext>
          </a:extLst>
        </p:cNvPr>
        <p:cNvGrpSpPr/>
        <p:nvPr/>
      </p:nvGrpSpPr>
      <p:grpSpPr>
        <a:xfrm>
          <a:off x="0" y="0"/>
          <a:ext cx="0" cy="0"/>
          <a:chOff x="0" y="0"/>
          <a:chExt cx="0" cy="0"/>
        </a:xfrm>
      </p:grpSpPr>
      <p:sp>
        <p:nvSpPr>
          <p:cNvPr id="6" name="Google Shape;166;p2">
            <a:extLst>
              <a:ext uri="{FF2B5EF4-FFF2-40B4-BE49-F238E27FC236}">
                <a16:creationId xmlns:a16="http://schemas.microsoft.com/office/drawing/2014/main" id="{AAEF7F70-C9D2-DD38-7730-F09E9D6A589B}"/>
              </a:ext>
            </a:extLst>
          </p:cNvPr>
          <p:cNvSpPr txBox="1"/>
          <p:nvPr/>
        </p:nvSpPr>
        <p:spPr>
          <a:xfrm>
            <a:off x="1729494" y="671205"/>
            <a:ext cx="8595360" cy="812530"/>
          </a:xfrm>
          <a:prstGeom prst="rect">
            <a:avLst/>
          </a:prstGeom>
          <a:noFill/>
          <a:ln>
            <a:noFill/>
          </a:ln>
        </p:spPr>
        <p:txBody>
          <a:bodyPr spcFirstLastPara="1" wrap="square" lIns="0" tIns="0" rIns="0" bIns="0" anchor="t" anchorCtr="0">
            <a:spAutoFit/>
          </a:bodyPr>
          <a:lstStyle/>
          <a:p>
            <a:pPr algn="ctr">
              <a:lnSpc>
                <a:spcPct val="120000"/>
              </a:lnSpc>
            </a:pPr>
            <a:r>
              <a:rPr lang="en-US" sz="4400" b="1" dirty="0">
                <a:latin typeface="Times New Roman"/>
              </a:rPr>
              <a:t>CONCLUSION</a:t>
            </a:r>
            <a:endParaRPr lang="en-IN" sz="4400" b="1" dirty="0">
              <a:latin typeface="Times New Roman"/>
            </a:endParaRPr>
          </a:p>
        </p:txBody>
      </p:sp>
      <p:cxnSp>
        <p:nvCxnSpPr>
          <p:cNvPr id="8" name="Straight Connector 7">
            <a:extLst>
              <a:ext uri="{FF2B5EF4-FFF2-40B4-BE49-F238E27FC236}">
                <a16:creationId xmlns:a16="http://schemas.microsoft.com/office/drawing/2014/main" id="{2A77E232-68A0-4CB7-217B-F423BDAA015B}"/>
              </a:ext>
            </a:extLst>
          </p:cNvPr>
          <p:cNvCxnSpPr>
            <a:cxnSpLocks/>
          </p:cNvCxnSpPr>
          <p:nvPr/>
        </p:nvCxnSpPr>
        <p:spPr>
          <a:xfrm>
            <a:off x="1283110" y="1769806"/>
            <a:ext cx="9788013"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2742A4-BE9A-5045-1566-F90E0751A287}"/>
              </a:ext>
            </a:extLst>
          </p:cNvPr>
          <p:cNvSpPr>
            <a:spLocks noGrp="1"/>
          </p:cNvSpPr>
          <p:nvPr>
            <p:ph idx="1"/>
          </p:nvPr>
        </p:nvSpPr>
        <p:spPr>
          <a:xfrm>
            <a:off x="1098755" y="2181893"/>
            <a:ext cx="10156722" cy="3926244"/>
          </a:xfrm>
        </p:spPr>
        <p:txBody>
          <a:bodyPr>
            <a:noAutofit/>
          </a:bodyPr>
          <a:lstStyle/>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By integrating sensors, wearable devices, cameras, and applications, IoT systems enable real-time tracking, accurate data collection, and early detection of abnormal behavior. This not only helps in improving animal welfare and farm productivity but also plays a crucial role in wildlife conservation, ecological research, and conflict management. With the support of IoT, large-scale monitoring becomes possible, reducing human effort while increasing reliability and scalability. </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Although challenges such as cost, connectivity, and data management remain, they can be mitigated with advancements in low-power devices, edge computing, and secure communication. </a:t>
            </a:r>
          </a:p>
          <a:p>
            <a:pPr algn="just">
              <a:lnSpc>
                <a:spcPct val="150000"/>
              </a:lnSpc>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Overall, IoT-based animal behavior monitoring ensures a sustainable, data-driven, and smart approach that benefits farmers, researchers, conservationists, and society at large</a:t>
            </a:r>
            <a:endParaRPr lang="en-US" sz="1600" dirty="0">
              <a:solidFill>
                <a:srgbClr val="0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0918252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258</TotalTime>
  <Words>1038</Words>
  <Application>Microsoft Office PowerPoint</Application>
  <PresentationFormat>Widescreen</PresentationFormat>
  <Paragraphs>78</Paragraphs>
  <Slides>13</Slides>
  <Notes>13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Calibri Light</vt:lpstr>
      <vt:lpstr>Times</vt:lpstr>
      <vt:lpstr>Times New Roman</vt:lpstr>
      <vt:lpstr>Wingdings</vt:lpstr>
      <vt:lpstr>Office Theme</vt:lpstr>
      <vt:lpstr>ALAGAPPA UNIVERSITY State University | A++ Grade by NAAC(GCPA:3.59)in the 4th Cycle in dual mode | Category-I University by MHRD-UGC Karaikudi-630 003,Tamil Nadu, India </vt:lpstr>
      <vt:lpstr>ANIMAL BEHAVIOUR MONITORING SYSTEM USING IOT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SOMU R</dc:creator>
  <cp:lastModifiedBy>SOMU R</cp:lastModifiedBy>
  <cp:revision>17</cp:revision>
  <dcterms:created xsi:type="dcterms:W3CDTF">2025-08-17T05:10:47Z</dcterms:created>
  <dcterms:modified xsi:type="dcterms:W3CDTF">2025-08-19T06:20:36Z</dcterms:modified>
</cp:coreProperties>
</file>